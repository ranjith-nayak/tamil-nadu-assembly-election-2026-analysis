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B"/>
    <a:srgbClr val="F6FCF8"/>
    <a:srgbClr val="FDF5FD"/>
    <a:srgbClr val="E5F8FF"/>
    <a:srgbClr val="CDF3DA"/>
    <a:srgbClr val="D8E1ED"/>
    <a:srgbClr val="B2B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23A7-CD03-A3A4-F3CA-71D06C174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BE8BF-CA94-B4F2-8406-CBAA65A9E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6C2D-C3CB-FDE3-DBF6-7EBE5404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75276-CBAB-7519-AA64-9293B358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A53F7-3C7A-274C-F15C-64F674B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5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EFE0-2457-D107-28A5-A9F64CBB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9E4C-2937-05D2-213C-97A2497D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8C746-11C8-94FB-2540-CA5D0404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362E8-17DB-136E-6857-966273A1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04A4-548A-0A0F-1FFF-E2AF2932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6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685B-0B16-3887-8A3F-53889E53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FC8A1-2CF6-B908-6D0E-12AFC97BC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B40A1-9E83-132C-2181-4D38D74D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68DD9-B5FC-ACBA-3609-637EEA16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4442-376F-2FE1-220D-19AFAE1C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78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CBF7-0A73-F7CA-1024-B8D37EED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0433-7531-A2D1-DECD-557ED2652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569AF-058E-FBE1-27B4-3133C26A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6BE19-2C2F-D5DF-DE8C-957D86C2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A5448-DF45-7C3B-D9E2-0F23B2D2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4DF2F-F7EE-FC93-49A8-C71290A5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4C66-D991-863F-557D-D0D9B6DA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9AEAC-DB60-A2EA-2973-F7E64E874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19633-4D4A-D463-CE5F-F415DA1E1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C2F7C-384D-DB60-EA4D-DBFD9C323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1FC36-20F2-68DD-E867-5B455434D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19839-EC04-297C-4BC0-18658ACB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73EF6-7295-3D79-4676-626FED02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4B7804-23EA-1864-A173-CDBF76C3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2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8747-4DFD-3779-0ED9-38BB02941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9ED66-A89F-3F49-DB8F-E4485704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69A5-AC1C-9025-2EDB-401C2D4F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ECE8E-16E7-C405-A7C6-4BDCDC2B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4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5096E-ED64-59DA-F6BC-4CDF179E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0AA86-3F0A-DF6A-E3A3-DFB1AACB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6E979-240A-5B1C-7C00-BF5E1CAA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3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8C9F-7BE0-DD7A-872F-DE84D714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90C7-B674-B785-2531-B0309292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88F1D-33CD-0A66-D9E0-234D9B2AA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C276E-A7F9-7E3C-AF8B-D6421136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CACC7-E412-54B9-52BA-2B15D872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417A2-2D6A-96BD-2E2B-D84267BD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63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38D2-9398-E09C-CF33-8A4999B7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06CD1-0AB4-1F59-1779-7943EA006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0C351-D74F-B7B6-DAF5-38D2D7A18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30D38-07F6-B2BE-963B-A5BDC29F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A8525-8CEA-513E-55CE-3BF23CA7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8C64C-ED24-851A-C491-6DE2FA02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8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F0E2-8E39-BC5B-0EC6-7FF7BB54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6A088-A6CC-C4F4-DE5F-754C35777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F633-2013-FFA5-602B-2D9133E5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6618-11FE-B3EF-C486-59B5E49E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ECA1E-E620-8F97-DF43-A1B10304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2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86AB0-5E48-B145-D217-9AFF1647B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29AE4-3BBF-4C89-8B4B-EBB4CA89E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413E-E1B8-6985-0E19-9B2D41C7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8DC29-B88E-0C4D-2223-1D56AAF6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AF5DB-3134-F0CB-AD4A-FE09B145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9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1F818-CF5C-3B3C-8F4D-CD462B6B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ADCFA-0DA1-7240-482C-A58F12D02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E866-415B-992C-D9DB-27288E3F2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7DE1-DF73-4619-80D1-9D51B206655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A2BB-B41F-74B8-7408-EFD718F67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1A3E-CBA3-0D03-1DF2-C5FAEEFE4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41962-B985-43B2-9D5A-3CF16E434C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75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results.eci.gov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hyperlink" Target="elections.tn.gov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9503E2-B5FA-3DBC-61F2-8F6005C7C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33DF02-569F-7EC0-351B-9A08C4E305C3}"/>
              </a:ext>
            </a:extLst>
          </p:cNvPr>
          <p:cNvSpPr txBox="1"/>
          <p:nvPr/>
        </p:nvSpPr>
        <p:spPr>
          <a:xfrm>
            <a:off x="910306" y="294631"/>
            <a:ext cx="100589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2026 </a:t>
            </a: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RESHAPED</a:t>
            </a:r>
            <a:r>
              <a:rPr lang="en-IN" sz="4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TAMIL NADU’S </a:t>
            </a:r>
            <a:r>
              <a:rPr lang="en-IN" sz="4400" b="1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POLITICAL LANDSCAPE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094E46-407D-0E52-A9A9-D2055AE61F45}"/>
              </a:ext>
            </a:extLst>
          </p:cNvPr>
          <p:cNvCxnSpPr>
            <a:cxnSpLocks/>
          </p:cNvCxnSpPr>
          <p:nvPr/>
        </p:nvCxnSpPr>
        <p:spPr>
          <a:xfrm>
            <a:off x="1726739" y="1733320"/>
            <a:ext cx="7377954" cy="57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9B6465-2761-D12F-9108-ABF0480CFE35}"/>
              </a:ext>
            </a:extLst>
          </p:cNvPr>
          <p:cNvSpPr txBox="1"/>
          <p:nvPr/>
        </p:nvSpPr>
        <p:spPr>
          <a:xfrm>
            <a:off x="2077609" y="1809609"/>
            <a:ext cx="7030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Vote Share • Voter Participation • Constituency Representation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93187D-9B53-CEEB-2A86-375875DF13B9}"/>
              </a:ext>
            </a:extLst>
          </p:cNvPr>
          <p:cNvSpPr txBox="1"/>
          <p:nvPr/>
        </p:nvSpPr>
        <p:spPr>
          <a:xfrm>
            <a:off x="2158912" y="6112510"/>
            <a:ext cx="148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Prepared by </a:t>
            </a:r>
          </a:p>
          <a:p>
            <a:r>
              <a:rPr lang="en-IN" b="1" dirty="0">
                <a:solidFill>
                  <a:srgbClr val="002060"/>
                </a:solidFill>
              </a:rPr>
              <a:t> - Ranjith A 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1A57FA-13FC-FA18-9AAD-8C7CF8A59277}"/>
              </a:ext>
            </a:extLst>
          </p:cNvPr>
          <p:cNvCxnSpPr/>
          <p:nvPr/>
        </p:nvCxnSpPr>
        <p:spPr>
          <a:xfrm>
            <a:off x="4640826" y="6076335"/>
            <a:ext cx="0" cy="6685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EEAA013-62F4-32A7-B748-5E80095A1205}"/>
              </a:ext>
            </a:extLst>
          </p:cNvPr>
          <p:cNvSpPr txBox="1"/>
          <p:nvPr/>
        </p:nvSpPr>
        <p:spPr>
          <a:xfrm>
            <a:off x="4982399" y="6112510"/>
            <a:ext cx="31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Resume Project Challenge 2026</a:t>
            </a:r>
          </a:p>
          <a:p>
            <a:r>
              <a:rPr lang="en-IN" b="1" i="1" dirty="0"/>
              <a:t>@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</a:rPr>
              <a:t>Codebasics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DED47-1B0E-4387-684D-A2B563EE8142}"/>
              </a:ext>
            </a:extLst>
          </p:cNvPr>
          <p:cNvSpPr txBox="1"/>
          <p:nvPr/>
        </p:nvSpPr>
        <p:spPr>
          <a:xfrm>
            <a:off x="3749456" y="8005"/>
            <a:ext cx="4443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Codebasics Resume Project Challenge 2026</a:t>
            </a:r>
            <a:endParaRPr lang="en-IN" sz="1400" b="1" i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703C0A-E187-7BBC-CB6C-C109C781DF84}"/>
              </a:ext>
            </a:extLst>
          </p:cNvPr>
          <p:cNvSpPr/>
          <p:nvPr/>
        </p:nvSpPr>
        <p:spPr>
          <a:xfrm>
            <a:off x="619432" y="4912026"/>
            <a:ext cx="8544234" cy="1051408"/>
          </a:xfrm>
          <a:prstGeom prst="roundRect">
            <a:avLst/>
          </a:prstGeom>
          <a:solidFill>
            <a:srgbClr val="F6F8FB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FE792F-F254-B58F-714C-77A14C28E18D}"/>
              </a:ext>
            </a:extLst>
          </p:cNvPr>
          <p:cNvSpPr/>
          <p:nvPr/>
        </p:nvSpPr>
        <p:spPr>
          <a:xfrm>
            <a:off x="783335" y="5062874"/>
            <a:ext cx="786582" cy="7678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9C72F3-1F0A-A135-7F8C-0A7BF73B2E9D}"/>
              </a:ext>
            </a:extLst>
          </p:cNvPr>
          <p:cNvSpPr/>
          <p:nvPr/>
        </p:nvSpPr>
        <p:spPr>
          <a:xfrm>
            <a:off x="2901720" y="5073120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9E81CB-C3E0-CCE4-635F-A488258741C8}"/>
              </a:ext>
            </a:extLst>
          </p:cNvPr>
          <p:cNvSpPr/>
          <p:nvPr/>
        </p:nvSpPr>
        <p:spPr>
          <a:xfrm>
            <a:off x="4993503" y="5062873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2578C-18FC-CBB5-D943-988FFB45B7F9}"/>
              </a:ext>
            </a:extLst>
          </p:cNvPr>
          <p:cNvSpPr/>
          <p:nvPr/>
        </p:nvSpPr>
        <p:spPr>
          <a:xfrm>
            <a:off x="7069050" y="5062874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FEC728-95B5-8D2A-6C39-DC5DE4243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65" y="5129325"/>
            <a:ext cx="634921" cy="634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54FB65-C691-7C5C-DF88-26AEEE11E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15" y="5148306"/>
            <a:ext cx="596958" cy="5969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E3DD2F-D8BF-A659-FF87-F244C4D7C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120" y="5122731"/>
            <a:ext cx="668603" cy="6686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2A6E6B-42E9-B501-B65B-4852DEA6E935}"/>
              </a:ext>
            </a:extLst>
          </p:cNvPr>
          <p:cNvSpPr txBox="1"/>
          <p:nvPr/>
        </p:nvSpPr>
        <p:spPr>
          <a:xfrm>
            <a:off x="1632625" y="5062874"/>
            <a:ext cx="1042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145 M +</a:t>
            </a:r>
          </a:p>
          <a:p>
            <a:pPr algn="ctr"/>
            <a:r>
              <a:rPr lang="en-IN" sz="1400" b="1" dirty="0"/>
              <a:t>Total Votes Polled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63FE58-A1FC-2298-3ECD-9B9AE3B0BC0D}"/>
              </a:ext>
            </a:extLst>
          </p:cNvPr>
          <p:cNvSpPr txBox="1"/>
          <p:nvPr/>
        </p:nvSpPr>
        <p:spPr>
          <a:xfrm>
            <a:off x="3586474" y="5071748"/>
            <a:ext cx="143760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234</a:t>
            </a:r>
          </a:p>
          <a:p>
            <a:pPr algn="ctr"/>
            <a:r>
              <a:rPr lang="en-IN" sz="1400" b="1" dirty="0"/>
              <a:t>Constituencies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06332E-6CC6-9897-8CDC-4A7E2DC2EE71}"/>
              </a:ext>
            </a:extLst>
          </p:cNvPr>
          <p:cNvSpPr txBox="1"/>
          <p:nvPr/>
        </p:nvSpPr>
        <p:spPr>
          <a:xfrm>
            <a:off x="5793348" y="5004378"/>
            <a:ext cx="1152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13K+</a:t>
            </a:r>
          </a:p>
          <a:p>
            <a:pPr algn="ctr"/>
            <a:r>
              <a:rPr lang="en-IN" sz="1400" b="1" dirty="0"/>
              <a:t>Candidates Contested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231989-E67C-F8FF-FA5E-F1EB6FC992AB}"/>
              </a:ext>
            </a:extLst>
          </p:cNvPr>
          <p:cNvSpPr txBox="1"/>
          <p:nvPr/>
        </p:nvSpPr>
        <p:spPr>
          <a:xfrm>
            <a:off x="7748494" y="5009947"/>
            <a:ext cx="1455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73.04%</a:t>
            </a:r>
          </a:p>
          <a:p>
            <a:pPr algn="ctr"/>
            <a:r>
              <a:rPr lang="en-IN" sz="1400" b="1" dirty="0"/>
              <a:t>Overall Voter Turnout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4C1C53-D941-925A-11BE-8F860C234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049" y="5133076"/>
            <a:ext cx="625923" cy="6259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E9D2B68-E728-C17D-E47C-B9FE2EB05413}"/>
              </a:ext>
            </a:extLst>
          </p:cNvPr>
          <p:cNvSpPr txBox="1"/>
          <p:nvPr/>
        </p:nvSpPr>
        <p:spPr>
          <a:xfrm>
            <a:off x="1327874" y="2187756"/>
            <a:ext cx="6527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/>
              <a:t>Analysis based on Official Election commission of India (ECI) Data</a:t>
            </a:r>
          </a:p>
        </p:txBody>
      </p:sp>
      <p:pic>
        <p:nvPicPr>
          <p:cNvPr id="35" name="Graphic 34" descr="Research with solid fill">
            <a:extLst>
              <a:ext uri="{FF2B5EF4-FFF2-40B4-BE49-F238E27FC236}">
                <a16:creationId xmlns:a16="http://schemas.microsoft.com/office/drawing/2014/main" id="{CB2072CE-1300-1ED2-19D1-68C2D47C3F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3734" y="2197881"/>
            <a:ext cx="271706" cy="27170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757329-BFA9-F41B-D561-C150291C4DD8}"/>
              </a:ext>
            </a:extLst>
          </p:cNvPr>
          <p:cNvSpPr txBox="1"/>
          <p:nvPr/>
        </p:nvSpPr>
        <p:spPr>
          <a:xfrm>
            <a:off x="1505980" y="2643918"/>
            <a:ext cx="65679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The 2026 Tamil Nadu Assembly Election marked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major political realignment</a:t>
            </a:r>
            <a:r>
              <a:rPr lang="en-US" sz="2400" b="1" dirty="0">
                <a:solidFill>
                  <a:schemeClr val="bg1"/>
                </a:solidFill>
              </a:rPr>
              <a:t>, with </a:t>
            </a:r>
            <a:r>
              <a:rPr lang="en-US" sz="2400" b="1" dirty="0">
                <a:solidFill>
                  <a:srgbClr val="92D050"/>
                </a:solidFill>
              </a:rPr>
              <a:t>TVK</a:t>
            </a:r>
            <a:r>
              <a:rPr lang="en-US" sz="2400" b="1" dirty="0">
                <a:solidFill>
                  <a:schemeClr val="bg1"/>
                </a:solidFill>
              </a:rPr>
              <a:t> emerging as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dominant force </a:t>
            </a:r>
            <a:r>
              <a:rPr lang="en-US" sz="2400" b="1" dirty="0">
                <a:solidFill>
                  <a:schemeClr val="bg1"/>
                </a:solidFill>
              </a:rPr>
              <a:t>across the state and reshaping regional electoral dynamics.                                 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B99016E-3ACB-8FA6-77C5-9C5206BD575D}"/>
              </a:ext>
            </a:extLst>
          </p:cNvPr>
          <p:cNvSpPr/>
          <p:nvPr/>
        </p:nvSpPr>
        <p:spPr>
          <a:xfrm>
            <a:off x="1270721" y="2613830"/>
            <a:ext cx="7423355" cy="205985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7513F3-7CB7-B7AC-AA27-895DF4A78059}"/>
              </a:ext>
            </a:extLst>
          </p:cNvPr>
          <p:cNvSpPr txBox="1"/>
          <p:nvPr/>
        </p:nvSpPr>
        <p:spPr>
          <a:xfrm>
            <a:off x="1698424" y="2803640"/>
            <a:ext cx="65679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The 2026 Tamil Nadu Assembly Election marked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major political realignment</a:t>
            </a:r>
            <a:r>
              <a:rPr lang="en-US" sz="2400" b="1" dirty="0">
                <a:solidFill>
                  <a:schemeClr val="bg1"/>
                </a:solidFill>
              </a:rPr>
              <a:t>, with </a:t>
            </a:r>
            <a:r>
              <a:rPr lang="en-US" sz="2400" b="1" dirty="0">
                <a:solidFill>
                  <a:srgbClr val="92D050"/>
                </a:solidFill>
              </a:rPr>
              <a:t>TVK</a:t>
            </a:r>
            <a:r>
              <a:rPr lang="en-US" sz="2400" b="1" dirty="0">
                <a:solidFill>
                  <a:schemeClr val="bg1"/>
                </a:solidFill>
              </a:rPr>
              <a:t> emerging as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dominant force </a:t>
            </a:r>
            <a:r>
              <a:rPr lang="en-US" sz="2400" b="1" dirty="0">
                <a:solidFill>
                  <a:schemeClr val="bg1"/>
                </a:solidFill>
              </a:rPr>
              <a:t>across the state and reshaping regional electoral dynamics.                                 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48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D999C9-EEC1-C6EB-76C6-96300487E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37DE9-0D70-31F6-F261-0C8DBE90E2EC}"/>
              </a:ext>
            </a:extLst>
          </p:cNvPr>
          <p:cNvSpPr txBox="1"/>
          <p:nvPr/>
        </p:nvSpPr>
        <p:spPr>
          <a:xfrm>
            <a:off x="1464070" y="1786755"/>
            <a:ext cx="7361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AtliQ Media wanted a fact-based analysis of the 2026 Tamil Nadu Assembly Election using only official Election Commission of India (ECI)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0CB05-AFD3-E0F0-9C50-8D8DFDE6D134}"/>
              </a:ext>
            </a:extLst>
          </p:cNvPr>
          <p:cNvSpPr txBox="1"/>
          <p:nvPr/>
        </p:nvSpPr>
        <p:spPr>
          <a:xfrm>
            <a:off x="3021495" y="474935"/>
            <a:ext cx="57116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</a:t>
            </a:r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CHALLENGE</a:t>
            </a:r>
          </a:p>
          <a:p>
            <a:pPr algn="ctr"/>
            <a:r>
              <a:rPr lang="en-IN" sz="2400" b="1" i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FC901-4678-CC6C-A5FA-95182C0B26F7}"/>
              </a:ext>
            </a:extLst>
          </p:cNvPr>
          <p:cNvSpPr txBox="1"/>
          <p:nvPr/>
        </p:nvSpPr>
        <p:spPr>
          <a:xfrm>
            <a:off x="3889512" y="184667"/>
            <a:ext cx="474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Codebasics Resume Project Challenge 2026</a:t>
            </a:r>
            <a:endParaRPr lang="en-IN" b="1" i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5CFD5-99DB-D2D9-C10C-FB546C5C8B27}"/>
              </a:ext>
            </a:extLst>
          </p:cNvPr>
          <p:cNvSpPr/>
          <p:nvPr/>
        </p:nvSpPr>
        <p:spPr>
          <a:xfrm>
            <a:off x="1526100" y="2653723"/>
            <a:ext cx="4954214" cy="2037813"/>
          </a:xfrm>
          <a:prstGeom prst="roundRect">
            <a:avLst/>
          </a:prstGeom>
          <a:solidFill>
            <a:srgbClr val="D8E1ED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EDC13-C4AD-D5CE-D052-7DD9F4A9B08D}"/>
              </a:ext>
            </a:extLst>
          </p:cNvPr>
          <p:cNvSpPr txBox="1"/>
          <p:nvPr/>
        </p:nvSpPr>
        <p:spPr>
          <a:xfrm>
            <a:off x="1676021" y="3299989"/>
            <a:ext cx="45953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The goal was to identify meaningful stories from the election results using official ECI data and present them through clear, fact-based storytelling.</a:t>
            </a:r>
            <a:endParaRPr lang="en-IN" sz="2000" b="1" i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F05DD7-D6DB-1686-E926-BC804B014EA2}"/>
              </a:ext>
            </a:extLst>
          </p:cNvPr>
          <p:cNvSpPr/>
          <p:nvPr/>
        </p:nvSpPr>
        <p:spPr>
          <a:xfrm>
            <a:off x="1830307" y="2827094"/>
            <a:ext cx="475445" cy="4903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4B349D-5273-581C-6009-C162C92D0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299" y="2905339"/>
            <a:ext cx="317460" cy="3174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5F17E6-841F-7B06-0B4E-473E2CBD7EFE}"/>
              </a:ext>
            </a:extLst>
          </p:cNvPr>
          <p:cNvSpPr txBox="1"/>
          <p:nvPr/>
        </p:nvSpPr>
        <p:spPr>
          <a:xfrm>
            <a:off x="2431771" y="2788994"/>
            <a:ext cx="3261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7030A0"/>
                </a:solidFill>
              </a:rPr>
              <a:t>MAIN OBJECTIVE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DB6998-41C4-572B-C6F3-E5971EE28025}"/>
              </a:ext>
            </a:extLst>
          </p:cNvPr>
          <p:cNvCxnSpPr>
            <a:cxnSpLocks/>
          </p:cNvCxnSpPr>
          <p:nvPr/>
        </p:nvCxnSpPr>
        <p:spPr>
          <a:xfrm flipV="1">
            <a:off x="2620866" y="3299989"/>
            <a:ext cx="3650470" cy="240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F91B21-B8B0-21FA-0B9B-E743FCE28B08}"/>
              </a:ext>
            </a:extLst>
          </p:cNvPr>
          <p:cNvSpPr/>
          <p:nvPr/>
        </p:nvSpPr>
        <p:spPr>
          <a:xfrm>
            <a:off x="5518381" y="4932322"/>
            <a:ext cx="3920251" cy="171404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43CBAF-B93C-5C5B-5479-60202E9152BC}"/>
              </a:ext>
            </a:extLst>
          </p:cNvPr>
          <p:cNvCxnSpPr>
            <a:cxnSpLocks/>
          </p:cNvCxnSpPr>
          <p:nvPr/>
        </p:nvCxnSpPr>
        <p:spPr>
          <a:xfrm flipV="1">
            <a:off x="1552604" y="1607419"/>
            <a:ext cx="7488463" cy="240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6E4EA7-A715-3F83-395B-BBD114EF0EE7}"/>
              </a:ext>
            </a:extLst>
          </p:cNvPr>
          <p:cNvSpPr txBox="1"/>
          <p:nvPr/>
        </p:nvSpPr>
        <p:spPr>
          <a:xfrm>
            <a:off x="5693289" y="4919007"/>
            <a:ext cx="3723119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Datasets &amp; Sources</a:t>
            </a:r>
          </a:p>
          <a:p>
            <a:endParaRPr lang="en-US" dirty="0"/>
          </a:p>
          <a:p>
            <a:r>
              <a:rPr lang="en-US" i="1" dirty="0"/>
              <a:t>• </a:t>
            </a:r>
            <a:r>
              <a:rPr lang="en-US" b="1" i="1" dirty="0"/>
              <a:t>tn_2021_results.csv</a:t>
            </a:r>
          </a:p>
          <a:p>
            <a:r>
              <a:rPr lang="en-US" b="1" i="1" dirty="0"/>
              <a:t>• tn_2026_results.csv</a:t>
            </a:r>
          </a:p>
          <a:p>
            <a:r>
              <a:rPr lang="en-US" b="1" i="1" dirty="0"/>
              <a:t>• constituency_master.csv</a:t>
            </a:r>
          </a:p>
          <a:p>
            <a:r>
              <a:rPr lang="en-US" b="1" i="1" dirty="0"/>
              <a:t>• Election Commission of India (ECI)</a:t>
            </a:r>
            <a:endParaRPr lang="en-IN" b="1" i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9F495-2F85-885D-A60A-28BF68D3F6DA}"/>
              </a:ext>
            </a:extLst>
          </p:cNvPr>
          <p:cNvCxnSpPr>
            <a:cxnSpLocks/>
          </p:cNvCxnSpPr>
          <p:nvPr/>
        </p:nvCxnSpPr>
        <p:spPr>
          <a:xfrm>
            <a:off x="5877338" y="5419998"/>
            <a:ext cx="334777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67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A23962-072C-30F7-47F2-A73C1F8B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58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4D028F-44D9-A70F-727F-15424F1DE438}"/>
              </a:ext>
            </a:extLst>
          </p:cNvPr>
          <p:cNvSpPr txBox="1"/>
          <p:nvPr/>
        </p:nvSpPr>
        <p:spPr>
          <a:xfrm>
            <a:off x="1990165" y="357809"/>
            <a:ext cx="7909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RESEARCH QUESTIONS SELECTED</a:t>
            </a:r>
          </a:p>
          <a:p>
            <a:pPr algn="ctr"/>
            <a:r>
              <a:rPr lang="en-IN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2000" b="1" i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Building a Connected Election 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532E66-D989-F697-0433-36265294323E}"/>
              </a:ext>
            </a:extLst>
          </p:cNvPr>
          <p:cNvSpPr/>
          <p:nvPr/>
        </p:nvSpPr>
        <p:spPr>
          <a:xfrm>
            <a:off x="649356" y="1493487"/>
            <a:ext cx="8746435" cy="954107"/>
          </a:xfrm>
          <a:prstGeom prst="roundRect">
            <a:avLst/>
          </a:prstGeom>
          <a:solidFill>
            <a:srgbClr val="F6F8FB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E408FE-DC70-B5D4-F0C7-8C5E1D4BD6C2}"/>
              </a:ext>
            </a:extLst>
          </p:cNvPr>
          <p:cNvSpPr/>
          <p:nvPr/>
        </p:nvSpPr>
        <p:spPr>
          <a:xfrm>
            <a:off x="4359965" y="2746439"/>
            <a:ext cx="3339548" cy="2955235"/>
          </a:xfrm>
          <a:prstGeom prst="roundRect">
            <a:avLst/>
          </a:prstGeom>
          <a:solidFill>
            <a:srgbClr val="F6F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FC202-52E5-5D50-26C9-0F52F683AABB}"/>
              </a:ext>
            </a:extLst>
          </p:cNvPr>
          <p:cNvSpPr txBox="1"/>
          <p:nvPr/>
        </p:nvSpPr>
        <p:spPr>
          <a:xfrm>
            <a:off x="868016" y="1647374"/>
            <a:ext cx="830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From the six research questions provided in the challenge, three were selected to build a connected story of the 2026 Tamil Nadu Assembly Election.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02C821-DA12-C7D1-E4B3-4A5CDAC02F94}"/>
              </a:ext>
            </a:extLst>
          </p:cNvPr>
          <p:cNvSpPr/>
          <p:nvPr/>
        </p:nvSpPr>
        <p:spPr>
          <a:xfrm>
            <a:off x="649356" y="2746438"/>
            <a:ext cx="3339548" cy="2955235"/>
          </a:xfrm>
          <a:prstGeom prst="roundRect">
            <a:avLst/>
          </a:prstGeom>
          <a:solidFill>
            <a:srgbClr val="E5F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3B7F3B-D587-F5AE-4DC2-1F13901BB665}"/>
              </a:ext>
            </a:extLst>
          </p:cNvPr>
          <p:cNvSpPr/>
          <p:nvPr/>
        </p:nvSpPr>
        <p:spPr>
          <a:xfrm>
            <a:off x="8070574" y="2746439"/>
            <a:ext cx="3339548" cy="29552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47B253-93FE-944B-0C28-1594AA25C29C}"/>
              </a:ext>
            </a:extLst>
          </p:cNvPr>
          <p:cNvSpPr/>
          <p:nvPr/>
        </p:nvSpPr>
        <p:spPr>
          <a:xfrm>
            <a:off x="868016" y="2850285"/>
            <a:ext cx="589723" cy="57871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B84C50D-320F-EF77-4B4C-A2C640774337}"/>
              </a:ext>
            </a:extLst>
          </p:cNvPr>
          <p:cNvSpPr/>
          <p:nvPr/>
        </p:nvSpPr>
        <p:spPr>
          <a:xfrm>
            <a:off x="4634945" y="2889651"/>
            <a:ext cx="589723" cy="57871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FD83CB-506D-07ED-1366-6DE51960E234}"/>
              </a:ext>
            </a:extLst>
          </p:cNvPr>
          <p:cNvSpPr/>
          <p:nvPr/>
        </p:nvSpPr>
        <p:spPr>
          <a:xfrm>
            <a:off x="8348869" y="2889651"/>
            <a:ext cx="589723" cy="57871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BC650-87E7-BDC7-A4AB-394DDFCCCD92}"/>
              </a:ext>
            </a:extLst>
          </p:cNvPr>
          <p:cNvSpPr txBox="1"/>
          <p:nvPr/>
        </p:nvSpPr>
        <p:spPr>
          <a:xfrm>
            <a:off x="3077743" y="2926931"/>
            <a:ext cx="679099" cy="46166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2BB61-89BF-E59C-2FBC-89B8CD00C935}"/>
              </a:ext>
            </a:extLst>
          </p:cNvPr>
          <p:cNvSpPr txBox="1"/>
          <p:nvPr/>
        </p:nvSpPr>
        <p:spPr>
          <a:xfrm>
            <a:off x="1138067" y="3708181"/>
            <a:ext cx="236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002060"/>
                </a:solidFill>
              </a:rPr>
              <a:t>VOTE SHARE STORY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B82BDA-5F51-98AC-A0CA-8E6FB3403A86}"/>
              </a:ext>
            </a:extLst>
          </p:cNvPr>
          <p:cNvSpPr txBox="1"/>
          <p:nvPr/>
        </p:nvSpPr>
        <p:spPr>
          <a:xfrm>
            <a:off x="4904263" y="3708181"/>
            <a:ext cx="2169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accent6">
                    <a:lumMod val="50000"/>
                  </a:schemeClr>
                </a:solidFill>
              </a:rPr>
              <a:t>TURNOUT STORY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74F84C-19D7-CBFC-1834-B5F919337F6C}"/>
              </a:ext>
            </a:extLst>
          </p:cNvPr>
          <p:cNvSpPr txBox="1"/>
          <p:nvPr/>
        </p:nvSpPr>
        <p:spPr>
          <a:xfrm>
            <a:off x="8256252" y="3448159"/>
            <a:ext cx="2968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accent4">
                    <a:lumMod val="50000"/>
                  </a:schemeClr>
                </a:solidFill>
              </a:rPr>
              <a:t>CONSTITUENCY REPRESENTATION STORY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47461-8672-40F0-9615-0ADCC44D7002}"/>
              </a:ext>
            </a:extLst>
          </p:cNvPr>
          <p:cNvSpPr txBox="1"/>
          <p:nvPr/>
        </p:nvSpPr>
        <p:spPr>
          <a:xfrm>
            <a:off x="6734684" y="2967335"/>
            <a:ext cx="679099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22BF5-9055-6754-1F71-0A4DAC4DEB22}"/>
              </a:ext>
            </a:extLst>
          </p:cNvPr>
          <p:cNvSpPr txBox="1"/>
          <p:nvPr/>
        </p:nvSpPr>
        <p:spPr>
          <a:xfrm>
            <a:off x="10501026" y="2948177"/>
            <a:ext cx="679099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>
                <a:solidFill>
                  <a:schemeClr val="bg1"/>
                </a:solidFill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1ED483-2C25-B87A-D009-3B5A0F2FCDFC}"/>
              </a:ext>
            </a:extLst>
          </p:cNvPr>
          <p:cNvCxnSpPr>
            <a:cxnSpLocks/>
          </p:cNvCxnSpPr>
          <p:nvPr/>
        </p:nvCxnSpPr>
        <p:spPr>
          <a:xfrm>
            <a:off x="1272209" y="4077513"/>
            <a:ext cx="23123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E763AA-2EA2-A19E-BCB4-6D560C302D2B}"/>
              </a:ext>
            </a:extLst>
          </p:cNvPr>
          <p:cNvCxnSpPr>
            <a:cxnSpLocks/>
          </p:cNvCxnSpPr>
          <p:nvPr/>
        </p:nvCxnSpPr>
        <p:spPr>
          <a:xfrm>
            <a:off x="4761877" y="4077513"/>
            <a:ext cx="23123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B6CF4C-A0B0-C275-8C21-6487EA735E13}"/>
              </a:ext>
            </a:extLst>
          </p:cNvPr>
          <p:cNvCxnSpPr>
            <a:cxnSpLocks/>
          </p:cNvCxnSpPr>
          <p:nvPr/>
        </p:nvCxnSpPr>
        <p:spPr>
          <a:xfrm>
            <a:off x="8528219" y="4114697"/>
            <a:ext cx="23123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2E1AF3-15F0-6DC3-F9A5-710AB2A44CC2}"/>
              </a:ext>
            </a:extLst>
          </p:cNvPr>
          <p:cNvSpPr txBox="1"/>
          <p:nvPr/>
        </p:nvSpPr>
        <p:spPr>
          <a:xfrm>
            <a:off x="1112298" y="4137976"/>
            <a:ext cx="2632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002060"/>
                </a:solidFill>
              </a:rPr>
              <a:t>How was voter support distributed among major political parties in the 2026 elections?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66002AE-3520-A34A-0F62-6472FA266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82" y="2967335"/>
            <a:ext cx="355190" cy="3551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F22333D-11CD-5521-1C34-8E2D9495A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877" y="2994342"/>
            <a:ext cx="369332" cy="3693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07B8DAF-578F-7083-BF60-0B2D181584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263" y="2910916"/>
            <a:ext cx="468570" cy="46857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EE080B8-189F-C24E-70EF-2B2AF6163D4A}"/>
              </a:ext>
            </a:extLst>
          </p:cNvPr>
          <p:cNvSpPr txBox="1"/>
          <p:nvPr/>
        </p:nvSpPr>
        <p:spPr>
          <a:xfrm>
            <a:off x="4663295" y="4181553"/>
            <a:ext cx="2651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accent6">
                    <a:lumMod val="50000"/>
                  </a:schemeClr>
                </a:solidFill>
              </a:rPr>
              <a:t>How engaged were voters across Tamil Nadu regions?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84DCB7-FE59-3AC7-901A-3E6D253461D1}"/>
              </a:ext>
            </a:extLst>
          </p:cNvPr>
          <p:cNvSpPr txBox="1"/>
          <p:nvPr/>
        </p:nvSpPr>
        <p:spPr>
          <a:xfrm>
            <a:off x="8357151" y="4221617"/>
            <a:ext cx="2766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How did constituency-level outcomes shape Assembly representation?</a:t>
            </a:r>
            <a:endParaRPr lang="en-IN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5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44B8C-F22A-A83F-1366-F0BE0D1C9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88761" cy="6859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ECBA57-A370-24B0-65D0-5D5D7CBBB9AB}"/>
              </a:ext>
            </a:extLst>
          </p:cNvPr>
          <p:cNvSpPr txBox="1"/>
          <p:nvPr/>
        </p:nvSpPr>
        <p:spPr>
          <a:xfrm>
            <a:off x="1524000" y="198782"/>
            <a:ext cx="6745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ELECTION AT A GLANCE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8492F9-E67D-F1C5-27AF-401A6B58B157}"/>
              </a:ext>
            </a:extLst>
          </p:cNvPr>
          <p:cNvCxnSpPr/>
          <p:nvPr/>
        </p:nvCxnSpPr>
        <p:spPr>
          <a:xfrm>
            <a:off x="1417983" y="845113"/>
            <a:ext cx="73417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2F8FDA-BC40-702B-6338-53C3A26EE540}"/>
              </a:ext>
            </a:extLst>
          </p:cNvPr>
          <p:cNvSpPr txBox="1"/>
          <p:nvPr/>
        </p:nvSpPr>
        <p:spPr>
          <a:xfrm>
            <a:off x="1033669" y="890006"/>
            <a:ext cx="7235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Understanding the scale and outcome of the 2026 Tamil Nadu Assembly Election.</a:t>
            </a:r>
            <a:endParaRPr lang="en-IN" sz="1400" i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2C9AE1-FC33-4B96-4239-1FA8FC608882}"/>
              </a:ext>
            </a:extLst>
          </p:cNvPr>
          <p:cNvSpPr/>
          <p:nvPr/>
        </p:nvSpPr>
        <p:spPr>
          <a:xfrm>
            <a:off x="751959" y="1491444"/>
            <a:ext cx="8544234" cy="1051408"/>
          </a:xfrm>
          <a:prstGeom prst="roundRect">
            <a:avLst/>
          </a:prstGeom>
          <a:solidFill>
            <a:srgbClr val="FDF5FD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4D341E-F5CA-2DD9-483C-534231EFC488}"/>
              </a:ext>
            </a:extLst>
          </p:cNvPr>
          <p:cNvSpPr/>
          <p:nvPr/>
        </p:nvSpPr>
        <p:spPr>
          <a:xfrm>
            <a:off x="804833" y="1633006"/>
            <a:ext cx="786582" cy="7678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EFCDF5-C1F6-F333-D67D-6F328846A877}"/>
              </a:ext>
            </a:extLst>
          </p:cNvPr>
          <p:cNvSpPr/>
          <p:nvPr/>
        </p:nvSpPr>
        <p:spPr>
          <a:xfrm>
            <a:off x="2923218" y="1643252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1ACDB6-823D-E498-A8C0-97F2CA31AD16}"/>
              </a:ext>
            </a:extLst>
          </p:cNvPr>
          <p:cNvSpPr/>
          <p:nvPr/>
        </p:nvSpPr>
        <p:spPr>
          <a:xfrm>
            <a:off x="5015001" y="1633005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8D47F3-2E97-699E-E8A6-1588A723206E}"/>
              </a:ext>
            </a:extLst>
          </p:cNvPr>
          <p:cNvSpPr/>
          <p:nvPr/>
        </p:nvSpPr>
        <p:spPr>
          <a:xfrm>
            <a:off x="7090548" y="1633006"/>
            <a:ext cx="786582" cy="7678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09BCF0-AFF5-D3D1-8F1E-C373701FD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3" y="1699457"/>
            <a:ext cx="634921" cy="634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676A56-8BBF-F965-E611-93654AE0B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13" y="1718438"/>
            <a:ext cx="596958" cy="5969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B08B2E-2491-25DF-766C-7F4A78AFA6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618" y="1692863"/>
            <a:ext cx="668603" cy="6686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BA729F-4B0C-DAD5-77EC-17B44BB35F03}"/>
              </a:ext>
            </a:extLst>
          </p:cNvPr>
          <p:cNvSpPr txBox="1"/>
          <p:nvPr/>
        </p:nvSpPr>
        <p:spPr>
          <a:xfrm>
            <a:off x="1654123" y="1633006"/>
            <a:ext cx="1042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145 M +</a:t>
            </a:r>
          </a:p>
          <a:p>
            <a:pPr algn="ctr"/>
            <a:r>
              <a:rPr lang="en-IN" sz="1400" b="1" dirty="0"/>
              <a:t>Total Votes Polled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CF268A-627A-D14E-631A-43DCA3A771B8}"/>
              </a:ext>
            </a:extLst>
          </p:cNvPr>
          <p:cNvSpPr txBox="1"/>
          <p:nvPr/>
        </p:nvSpPr>
        <p:spPr>
          <a:xfrm>
            <a:off x="3607972" y="1641880"/>
            <a:ext cx="143760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234</a:t>
            </a:r>
          </a:p>
          <a:p>
            <a:pPr algn="ctr"/>
            <a:r>
              <a:rPr lang="en-IN" sz="1400" b="1" dirty="0"/>
              <a:t>Constituencies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A63A9-8FDE-6D16-7FCF-56693005162A}"/>
              </a:ext>
            </a:extLst>
          </p:cNvPr>
          <p:cNvSpPr txBox="1"/>
          <p:nvPr/>
        </p:nvSpPr>
        <p:spPr>
          <a:xfrm>
            <a:off x="5814846" y="1574510"/>
            <a:ext cx="1152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13K+</a:t>
            </a:r>
          </a:p>
          <a:p>
            <a:pPr algn="ctr"/>
            <a:r>
              <a:rPr lang="en-IN" sz="1400" b="1" dirty="0"/>
              <a:t>Candidates Contested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7A86D6-6023-F0A1-CF99-4EB6E7EECF72}"/>
              </a:ext>
            </a:extLst>
          </p:cNvPr>
          <p:cNvSpPr txBox="1"/>
          <p:nvPr/>
        </p:nvSpPr>
        <p:spPr>
          <a:xfrm>
            <a:off x="7769992" y="1580079"/>
            <a:ext cx="1455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73.04%</a:t>
            </a:r>
          </a:p>
          <a:p>
            <a:pPr algn="ctr"/>
            <a:r>
              <a:rPr lang="en-IN" sz="1400" b="1" dirty="0"/>
              <a:t>Overall Voter Turnout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D4F0C8-2CD8-9EA9-D642-CC320B27E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547" y="1703208"/>
            <a:ext cx="625923" cy="6259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904158-AE36-DF62-9541-5763D327E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92" y="2804248"/>
            <a:ext cx="5181634" cy="3318256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FD1D3F4-9DC0-45A1-D627-6C8406E82D79}"/>
              </a:ext>
            </a:extLst>
          </p:cNvPr>
          <p:cNvSpPr/>
          <p:nvPr/>
        </p:nvSpPr>
        <p:spPr>
          <a:xfrm>
            <a:off x="6300011" y="2804248"/>
            <a:ext cx="3054417" cy="33182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DB5613-9E51-18C2-6867-9D1C513CA116}"/>
              </a:ext>
            </a:extLst>
          </p:cNvPr>
          <p:cNvSpPr txBox="1"/>
          <p:nvPr/>
        </p:nvSpPr>
        <p:spPr>
          <a:xfrm>
            <a:off x="7008764" y="2995584"/>
            <a:ext cx="225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ELECTION HIGHLIGHT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97C15B-7648-C6E0-ED0F-05DA67E3199C}"/>
              </a:ext>
            </a:extLst>
          </p:cNvPr>
          <p:cNvCxnSpPr>
            <a:cxnSpLocks/>
          </p:cNvCxnSpPr>
          <p:nvPr/>
        </p:nvCxnSpPr>
        <p:spPr>
          <a:xfrm>
            <a:off x="7158618" y="3444687"/>
            <a:ext cx="18077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13CCA51-E64A-4937-A8CD-73F0492086D9}"/>
              </a:ext>
            </a:extLst>
          </p:cNvPr>
          <p:cNvSpPr/>
          <p:nvPr/>
        </p:nvSpPr>
        <p:spPr>
          <a:xfrm>
            <a:off x="6533320" y="2937765"/>
            <a:ext cx="475445" cy="49032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EDCC04E-6CCE-BE07-FF4C-B03182155D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661" y="3030545"/>
            <a:ext cx="304762" cy="3047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BD4BFAF-513B-82C7-F2A7-29FF28AC64E8}"/>
              </a:ext>
            </a:extLst>
          </p:cNvPr>
          <p:cNvSpPr txBox="1"/>
          <p:nvPr/>
        </p:nvSpPr>
        <p:spPr>
          <a:xfrm>
            <a:off x="6481296" y="3561605"/>
            <a:ext cx="2691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TVK emerged as the largest political force in 2026 Tamil Nadu Election.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0FE45A4-3A33-EA11-8DDA-8E8D017E3BCE}"/>
              </a:ext>
            </a:extLst>
          </p:cNvPr>
          <p:cNvCxnSpPr/>
          <p:nvPr/>
        </p:nvCxnSpPr>
        <p:spPr>
          <a:xfrm>
            <a:off x="6573583" y="4629412"/>
            <a:ext cx="239281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D923F90-1051-ED73-3DBE-95E2021EA35A}"/>
              </a:ext>
            </a:extLst>
          </p:cNvPr>
          <p:cNvSpPr txBox="1"/>
          <p:nvPr/>
        </p:nvSpPr>
        <p:spPr>
          <a:xfrm>
            <a:off x="6533320" y="4746331"/>
            <a:ext cx="24330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TVK secured 107 seats and recorded the highest vote count, emerging as the largest party in the 2026 Tamil Nadu Assembly Election.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C42A59-AEAF-C783-13DF-5068F6A72499}"/>
              </a:ext>
            </a:extLst>
          </p:cNvPr>
          <p:cNvCxnSpPr/>
          <p:nvPr/>
        </p:nvCxnSpPr>
        <p:spPr>
          <a:xfrm>
            <a:off x="2696342" y="1641880"/>
            <a:ext cx="0" cy="687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2D17194-7083-BCCA-1193-1F4D9F530B6F}"/>
              </a:ext>
            </a:extLst>
          </p:cNvPr>
          <p:cNvCxnSpPr/>
          <p:nvPr/>
        </p:nvCxnSpPr>
        <p:spPr>
          <a:xfrm>
            <a:off x="4903304" y="1713578"/>
            <a:ext cx="0" cy="687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BD1B94F-E10B-E252-F7A8-0C5FFCC6B08A}"/>
              </a:ext>
            </a:extLst>
          </p:cNvPr>
          <p:cNvCxnSpPr/>
          <p:nvPr/>
        </p:nvCxnSpPr>
        <p:spPr>
          <a:xfrm>
            <a:off x="6966830" y="1713578"/>
            <a:ext cx="0" cy="687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0245D73-C8BD-B28C-57C5-32FB6CDF732B}"/>
              </a:ext>
            </a:extLst>
          </p:cNvPr>
          <p:cNvSpPr txBox="1"/>
          <p:nvPr/>
        </p:nvSpPr>
        <p:spPr>
          <a:xfrm>
            <a:off x="859247" y="6153068"/>
            <a:ext cx="433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Source: Election Commission of India (2026</a:t>
            </a:r>
            <a:r>
              <a:rPr lang="en-US" sz="900" dirty="0"/>
              <a:t>)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65383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E3663A-884F-2290-14A0-913F4A917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80FC4E-81A2-DA92-9C0A-C53FE62692A0}"/>
              </a:ext>
            </a:extLst>
          </p:cNvPr>
          <p:cNvSpPr txBox="1"/>
          <p:nvPr/>
        </p:nvSpPr>
        <p:spPr>
          <a:xfrm>
            <a:off x="1750142" y="340702"/>
            <a:ext cx="7963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PARTY PERFORMANCE DEEP DIVE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58E76F-B7D1-EDD2-5BDD-DF528C2D5775}"/>
              </a:ext>
            </a:extLst>
          </p:cNvPr>
          <p:cNvCxnSpPr/>
          <p:nvPr/>
        </p:nvCxnSpPr>
        <p:spPr>
          <a:xfrm>
            <a:off x="1750142" y="1019957"/>
            <a:ext cx="73417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D7BE3B-211B-D2C5-23B7-18AE0A45A1DE}"/>
              </a:ext>
            </a:extLst>
          </p:cNvPr>
          <p:cNvSpPr txBox="1"/>
          <p:nvPr/>
        </p:nvSpPr>
        <p:spPr>
          <a:xfrm>
            <a:off x="1750142" y="1085806"/>
            <a:ext cx="6480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Analysing vote share, seat share and electoral efficiency across major political parties.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D4F891-2BF3-2C4D-2FF1-C833FE26BB7C}"/>
              </a:ext>
            </a:extLst>
          </p:cNvPr>
          <p:cNvSpPr/>
          <p:nvPr/>
        </p:nvSpPr>
        <p:spPr>
          <a:xfrm>
            <a:off x="7288698" y="1605204"/>
            <a:ext cx="2902226" cy="323183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863DB0-9015-5547-190C-55BF0390CCB8}"/>
              </a:ext>
            </a:extLst>
          </p:cNvPr>
          <p:cNvSpPr/>
          <p:nvPr/>
        </p:nvSpPr>
        <p:spPr>
          <a:xfrm>
            <a:off x="7547123" y="1752354"/>
            <a:ext cx="475445" cy="49032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BFD5AA-276A-836C-C807-4E14A3B5F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637" y="1838785"/>
            <a:ext cx="317460" cy="3174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E9CABE-0E3B-CD4B-4EEF-2A0359538F46}"/>
              </a:ext>
            </a:extLst>
          </p:cNvPr>
          <p:cNvSpPr txBox="1"/>
          <p:nvPr/>
        </p:nvSpPr>
        <p:spPr>
          <a:xfrm>
            <a:off x="8107082" y="1827088"/>
            <a:ext cx="178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MAIN FINDING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711AD1-E6AE-B4DC-953C-D69C6C4C8BF9}"/>
              </a:ext>
            </a:extLst>
          </p:cNvPr>
          <p:cNvCxnSpPr>
            <a:cxnSpLocks/>
          </p:cNvCxnSpPr>
          <p:nvPr/>
        </p:nvCxnSpPr>
        <p:spPr>
          <a:xfrm>
            <a:off x="8145983" y="2195508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18CDE86-D149-27F5-0BC5-07468A9BA876}"/>
              </a:ext>
            </a:extLst>
          </p:cNvPr>
          <p:cNvSpPr txBox="1"/>
          <p:nvPr/>
        </p:nvSpPr>
        <p:spPr>
          <a:xfrm>
            <a:off x="7484233" y="2329108"/>
            <a:ext cx="27066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TVK recorded the </a:t>
            </a:r>
            <a:r>
              <a:rPr lang="en-IN" sz="1600" b="1" dirty="0">
                <a:solidFill>
                  <a:srgbClr val="7030A0"/>
                </a:solidFill>
              </a:rPr>
              <a:t>Highest</a:t>
            </a:r>
            <a:r>
              <a:rPr lang="en-IN" sz="1600" b="1" dirty="0"/>
              <a:t> </a:t>
            </a:r>
            <a:r>
              <a:rPr lang="en-IN" sz="1600" b="1" dirty="0">
                <a:solidFill>
                  <a:srgbClr val="7030A0"/>
                </a:solidFill>
              </a:rPr>
              <a:t>Vote Count </a:t>
            </a:r>
            <a:r>
              <a:rPr lang="en-IN" sz="1600" b="1" dirty="0"/>
              <a:t>and converted voter Support into the largest seat share in the Assembly.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F55290-2BF6-F120-65B4-F24012ACF710}"/>
              </a:ext>
            </a:extLst>
          </p:cNvPr>
          <p:cNvCxnSpPr>
            <a:cxnSpLocks/>
          </p:cNvCxnSpPr>
          <p:nvPr/>
        </p:nvCxnSpPr>
        <p:spPr>
          <a:xfrm>
            <a:off x="7563746" y="3433751"/>
            <a:ext cx="2468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47FFA5-A059-B8A7-9EBC-45135EBE09DC}"/>
              </a:ext>
            </a:extLst>
          </p:cNvPr>
          <p:cNvSpPr txBox="1"/>
          <p:nvPr/>
        </p:nvSpPr>
        <p:spPr>
          <a:xfrm>
            <a:off x="7484233" y="3507351"/>
            <a:ext cx="27066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TVK’s strong vote base translated into a clear legislative majority, establishing it as the dominant political force in the 2026 Tamil Nadu Assembly Election.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0388E9-B93E-11B5-F5BD-2F7FE7B1A0E1}"/>
              </a:ext>
            </a:extLst>
          </p:cNvPr>
          <p:cNvSpPr/>
          <p:nvPr/>
        </p:nvSpPr>
        <p:spPr>
          <a:xfrm>
            <a:off x="547613" y="5048656"/>
            <a:ext cx="2778684" cy="1468642"/>
          </a:xfrm>
          <a:prstGeom prst="roundRect">
            <a:avLst/>
          </a:prstGeom>
          <a:solidFill>
            <a:srgbClr val="FDF5FD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B35617-9F65-9E1B-914E-8FC1EDCBC702}"/>
              </a:ext>
            </a:extLst>
          </p:cNvPr>
          <p:cNvSpPr/>
          <p:nvPr/>
        </p:nvSpPr>
        <p:spPr>
          <a:xfrm>
            <a:off x="3792260" y="5037873"/>
            <a:ext cx="2765425" cy="1468642"/>
          </a:xfrm>
          <a:prstGeom prst="roundRect">
            <a:avLst/>
          </a:prstGeom>
          <a:solidFill>
            <a:srgbClr val="E5F8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44B4A9-F6D9-C6C3-6138-6CF78EAF36BD}"/>
              </a:ext>
            </a:extLst>
          </p:cNvPr>
          <p:cNvSpPr/>
          <p:nvPr/>
        </p:nvSpPr>
        <p:spPr>
          <a:xfrm>
            <a:off x="7023649" y="5048656"/>
            <a:ext cx="2765425" cy="1468642"/>
          </a:xfrm>
          <a:prstGeom prst="roundRect">
            <a:avLst/>
          </a:prstGeom>
          <a:solidFill>
            <a:srgbClr val="CDF3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1D7F66-63BA-0453-C883-EE6B8C7D84B2}"/>
              </a:ext>
            </a:extLst>
          </p:cNvPr>
          <p:cNvSpPr txBox="1"/>
          <p:nvPr/>
        </p:nvSpPr>
        <p:spPr>
          <a:xfrm>
            <a:off x="1338470" y="5234609"/>
            <a:ext cx="1868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7030A0"/>
                </a:solidFill>
              </a:rPr>
              <a:t>VOTE SHARE LEADER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E32B7E-82CF-B062-A159-6A28F293497D}"/>
              </a:ext>
            </a:extLst>
          </p:cNvPr>
          <p:cNvCxnSpPr>
            <a:cxnSpLocks/>
          </p:cNvCxnSpPr>
          <p:nvPr/>
        </p:nvCxnSpPr>
        <p:spPr>
          <a:xfrm>
            <a:off x="1392573" y="5543298"/>
            <a:ext cx="1575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6CE37BA-1E75-7440-E6EC-DD6B478475C8}"/>
              </a:ext>
            </a:extLst>
          </p:cNvPr>
          <p:cNvSpPr txBox="1"/>
          <p:nvPr/>
        </p:nvSpPr>
        <p:spPr>
          <a:xfrm>
            <a:off x="609599" y="5600168"/>
            <a:ext cx="2716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/>
              <a:t>TVK recorded the highest vote count (34.5M), leading all parties in voter support during the 2026 election.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C4118A-6213-CC7A-A266-425C5F5D2906}"/>
              </a:ext>
            </a:extLst>
          </p:cNvPr>
          <p:cNvSpPr/>
          <p:nvPr/>
        </p:nvSpPr>
        <p:spPr>
          <a:xfrm>
            <a:off x="811614" y="5136354"/>
            <a:ext cx="461688" cy="4638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84DE237-1927-DFB5-EBCD-02848FB81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16" y="5198194"/>
            <a:ext cx="340134" cy="340134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8200DD9-4CFC-8919-29CD-32BE0EDFC655}"/>
              </a:ext>
            </a:extLst>
          </p:cNvPr>
          <p:cNvSpPr/>
          <p:nvPr/>
        </p:nvSpPr>
        <p:spPr>
          <a:xfrm>
            <a:off x="4017001" y="5136354"/>
            <a:ext cx="461688" cy="4638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3F89316-640E-A078-6286-87CA64AD5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01" y="5151504"/>
            <a:ext cx="461688" cy="4616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00EDCF5-AD79-E96A-BF00-1605B0CA8DDA}"/>
              </a:ext>
            </a:extLst>
          </p:cNvPr>
          <p:cNvSpPr txBox="1"/>
          <p:nvPr/>
        </p:nvSpPr>
        <p:spPr>
          <a:xfrm>
            <a:off x="4538596" y="5228459"/>
            <a:ext cx="1959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70C0"/>
                </a:solidFill>
              </a:rPr>
              <a:t>ELECTORAL EFFICIENCY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5AB0E6-CB47-103F-D307-56116431A72E}"/>
              </a:ext>
            </a:extLst>
          </p:cNvPr>
          <p:cNvCxnSpPr>
            <a:cxnSpLocks/>
          </p:cNvCxnSpPr>
          <p:nvPr/>
        </p:nvCxnSpPr>
        <p:spPr>
          <a:xfrm>
            <a:off x="4633037" y="5536236"/>
            <a:ext cx="16749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121ED17-7905-1663-5465-6169D827F53C}"/>
              </a:ext>
            </a:extLst>
          </p:cNvPr>
          <p:cNvSpPr txBox="1"/>
          <p:nvPr/>
        </p:nvSpPr>
        <p:spPr>
          <a:xfrm>
            <a:off x="3870671" y="5613192"/>
            <a:ext cx="2799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/>
              <a:t>Vote share and seat share were not always proportional, highlighting differences in constituency- level conversion efficiency among parties.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D366DD8-620A-A3C7-605F-901C8F507D9E}"/>
              </a:ext>
            </a:extLst>
          </p:cNvPr>
          <p:cNvSpPr/>
          <p:nvPr/>
        </p:nvSpPr>
        <p:spPr>
          <a:xfrm>
            <a:off x="7124445" y="5151504"/>
            <a:ext cx="461688" cy="4638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511667-BE12-5F3B-CB95-16F739E44883}"/>
              </a:ext>
            </a:extLst>
          </p:cNvPr>
          <p:cNvSpPr txBox="1"/>
          <p:nvPr/>
        </p:nvSpPr>
        <p:spPr>
          <a:xfrm>
            <a:off x="7574049" y="5214372"/>
            <a:ext cx="2331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MULTI PARTY COMPETITION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2E0ECEB-53E2-2F24-C1BD-CFD46401385D}"/>
              </a:ext>
            </a:extLst>
          </p:cNvPr>
          <p:cNvCxnSpPr>
            <a:cxnSpLocks/>
          </p:cNvCxnSpPr>
          <p:nvPr/>
        </p:nvCxnSpPr>
        <p:spPr>
          <a:xfrm flipV="1">
            <a:off x="7639041" y="5567558"/>
            <a:ext cx="2074803" cy="34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6BBBAE8-449D-232F-64A9-10AE1F2576C4}"/>
              </a:ext>
            </a:extLst>
          </p:cNvPr>
          <p:cNvSpPr txBox="1"/>
          <p:nvPr/>
        </p:nvSpPr>
        <p:spPr>
          <a:xfrm>
            <a:off x="7023648" y="5659890"/>
            <a:ext cx="2765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i="1" dirty="0"/>
              <a:t>Multiple parties maintained legislative representation despite differences in vote share.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DA7E5AD-C53B-D982-0BF1-1E290E929E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145" y="5202020"/>
            <a:ext cx="332480" cy="33248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376304F-7AD1-84A4-4375-D8F98962E9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624709"/>
            <a:ext cx="6215270" cy="300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82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563FE9-5E3F-7666-6A0D-D4FB0A097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F22E82-4FBD-3C2A-708C-1A94E1AA1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5" y="2400370"/>
            <a:ext cx="5431361" cy="2850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E79C0D-4A9A-1BBD-E5E1-27505518EFD4}"/>
              </a:ext>
            </a:extLst>
          </p:cNvPr>
          <p:cNvSpPr txBox="1"/>
          <p:nvPr/>
        </p:nvSpPr>
        <p:spPr>
          <a:xfrm>
            <a:off x="1669774" y="138642"/>
            <a:ext cx="852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VOTER PARTICIPATION &amp; TURNOUT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C6F0E4-A9DC-00F9-6690-7AA8D2EB5B49}"/>
              </a:ext>
            </a:extLst>
          </p:cNvPr>
          <p:cNvCxnSpPr>
            <a:cxnSpLocks/>
          </p:cNvCxnSpPr>
          <p:nvPr/>
        </p:nvCxnSpPr>
        <p:spPr>
          <a:xfrm>
            <a:off x="1816403" y="784973"/>
            <a:ext cx="8056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C5FEB4-52B0-D5D1-783D-B363B70B78D6}"/>
              </a:ext>
            </a:extLst>
          </p:cNvPr>
          <p:cNvSpPr txBox="1"/>
          <p:nvPr/>
        </p:nvSpPr>
        <p:spPr>
          <a:xfrm>
            <a:off x="1696026" y="785541"/>
            <a:ext cx="6718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Analysing voter engagement and turnout patterns across Tamil Nadu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3AF8B2-B001-4EFA-D6BC-6CBB60C27C46}"/>
              </a:ext>
            </a:extLst>
          </p:cNvPr>
          <p:cNvSpPr/>
          <p:nvPr/>
        </p:nvSpPr>
        <p:spPr>
          <a:xfrm>
            <a:off x="1816403" y="1218930"/>
            <a:ext cx="6144688" cy="863118"/>
          </a:xfrm>
          <a:prstGeom prst="roundRect">
            <a:avLst/>
          </a:prstGeom>
          <a:solidFill>
            <a:srgbClr val="F6FCF8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CBBF25-ADB0-04CE-F722-5F91E778D4CB}"/>
              </a:ext>
            </a:extLst>
          </p:cNvPr>
          <p:cNvSpPr/>
          <p:nvPr/>
        </p:nvSpPr>
        <p:spPr>
          <a:xfrm>
            <a:off x="1952757" y="1323130"/>
            <a:ext cx="727413" cy="6547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C56E58-F533-0459-1F77-0ABA2039D613}"/>
              </a:ext>
            </a:extLst>
          </p:cNvPr>
          <p:cNvSpPr/>
          <p:nvPr/>
        </p:nvSpPr>
        <p:spPr>
          <a:xfrm>
            <a:off x="4817593" y="1351101"/>
            <a:ext cx="727413" cy="6547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3DE3DF-7A2A-3297-D1EA-0FA7C6CC3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31" y="1443202"/>
            <a:ext cx="414570" cy="4145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0A3AB3-63F2-DCC1-ED1F-6ECFA1BB8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26" y="1443202"/>
            <a:ext cx="520946" cy="5209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FDE086-39DB-FF88-42AE-199CF749E5E2}"/>
              </a:ext>
            </a:extLst>
          </p:cNvPr>
          <p:cNvSpPr txBox="1"/>
          <p:nvPr/>
        </p:nvSpPr>
        <p:spPr>
          <a:xfrm>
            <a:off x="2601466" y="1198855"/>
            <a:ext cx="2146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AVERAGE TURNOUT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7D075-228B-2C26-60F8-381E0BA63C1E}"/>
              </a:ext>
            </a:extLst>
          </p:cNvPr>
          <p:cNvSpPr txBox="1"/>
          <p:nvPr/>
        </p:nvSpPr>
        <p:spPr>
          <a:xfrm>
            <a:off x="2704494" y="1421041"/>
            <a:ext cx="1663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7030A0"/>
                </a:solidFill>
              </a:rPr>
              <a:t>73.04%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174AEB-2E75-B9CE-C0D5-104E478EC28E}"/>
              </a:ext>
            </a:extLst>
          </p:cNvPr>
          <p:cNvSpPr txBox="1"/>
          <p:nvPr/>
        </p:nvSpPr>
        <p:spPr>
          <a:xfrm>
            <a:off x="5735174" y="1198855"/>
            <a:ext cx="2277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HIGHEST TURNOUT REGION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1ACC84-46D1-10FE-A070-0B9823BEB987}"/>
              </a:ext>
            </a:extLst>
          </p:cNvPr>
          <p:cNvSpPr txBox="1"/>
          <p:nvPr/>
        </p:nvSpPr>
        <p:spPr>
          <a:xfrm>
            <a:off x="5683557" y="1376664"/>
            <a:ext cx="2140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Central Region</a:t>
            </a:r>
          </a:p>
          <a:p>
            <a:pPr algn="ctr"/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78.95%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46C7B7-A7F3-AB68-2F93-C16CF4E4D4E5}"/>
              </a:ext>
            </a:extLst>
          </p:cNvPr>
          <p:cNvSpPr/>
          <p:nvPr/>
        </p:nvSpPr>
        <p:spPr>
          <a:xfrm>
            <a:off x="6561595" y="2390522"/>
            <a:ext cx="2902226" cy="28599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CBE851-3B35-B964-40F7-C4EF774119EC}"/>
              </a:ext>
            </a:extLst>
          </p:cNvPr>
          <p:cNvSpPr/>
          <p:nvPr/>
        </p:nvSpPr>
        <p:spPr>
          <a:xfrm>
            <a:off x="6820020" y="2537671"/>
            <a:ext cx="475445" cy="49032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DB951C-21C1-AEC5-6F7D-EFB06ABD60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534" y="2624102"/>
            <a:ext cx="317460" cy="3174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75B3E1-4E40-C568-0F07-736A20E94DC1}"/>
              </a:ext>
            </a:extLst>
          </p:cNvPr>
          <p:cNvSpPr txBox="1"/>
          <p:nvPr/>
        </p:nvSpPr>
        <p:spPr>
          <a:xfrm>
            <a:off x="7379979" y="2557614"/>
            <a:ext cx="178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MAIN FINDING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2ED102-E1BB-A168-7F98-3B34A63EB79F}"/>
              </a:ext>
            </a:extLst>
          </p:cNvPr>
          <p:cNvCxnSpPr>
            <a:cxnSpLocks/>
          </p:cNvCxnSpPr>
          <p:nvPr/>
        </p:nvCxnSpPr>
        <p:spPr>
          <a:xfrm>
            <a:off x="7418880" y="2926034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FD5608-F8F8-82A7-3776-C70AFD6D74EF}"/>
              </a:ext>
            </a:extLst>
          </p:cNvPr>
          <p:cNvSpPr txBox="1"/>
          <p:nvPr/>
        </p:nvSpPr>
        <p:spPr>
          <a:xfrm>
            <a:off x="6718965" y="3013377"/>
            <a:ext cx="27448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rgbClr val="002060"/>
                </a:solidFill>
              </a:rPr>
              <a:t>Tamil Nadu </a:t>
            </a:r>
            <a:r>
              <a:rPr lang="en-IN" sz="1600" b="1" dirty="0"/>
              <a:t>recorded an average voter turnout of 73.04% with most regions exceeding 70% participation, reflecting </a:t>
            </a:r>
            <a:r>
              <a:rPr lang="en-IN" sz="1600" b="1" dirty="0">
                <a:solidFill>
                  <a:srgbClr val="002060"/>
                </a:solidFill>
              </a:rPr>
              <a:t>strong electoral engagement </a:t>
            </a:r>
            <a:r>
              <a:rPr lang="en-IN" sz="1600" b="1" dirty="0"/>
              <a:t>across the state.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17525DF-767D-511C-F047-325AB96BB450}"/>
              </a:ext>
            </a:extLst>
          </p:cNvPr>
          <p:cNvSpPr/>
          <p:nvPr/>
        </p:nvSpPr>
        <p:spPr>
          <a:xfrm>
            <a:off x="755035" y="5533289"/>
            <a:ext cx="2692269" cy="1101752"/>
          </a:xfrm>
          <a:prstGeom prst="roundRect">
            <a:avLst/>
          </a:prstGeom>
          <a:solidFill>
            <a:srgbClr val="FDF5FD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761281-CF22-FC6C-B78C-F95FE10DB41D}"/>
              </a:ext>
            </a:extLst>
          </p:cNvPr>
          <p:cNvSpPr/>
          <p:nvPr/>
        </p:nvSpPr>
        <p:spPr>
          <a:xfrm>
            <a:off x="3766210" y="5533289"/>
            <a:ext cx="2692269" cy="1101752"/>
          </a:xfrm>
          <a:prstGeom prst="roundRect">
            <a:avLst/>
          </a:prstGeom>
          <a:solidFill>
            <a:srgbClr val="E5F8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8ADDD89-1967-7B5E-513E-55709820BE0E}"/>
              </a:ext>
            </a:extLst>
          </p:cNvPr>
          <p:cNvSpPr/>
          <p:nvPr/>
        </p:nvSpPr>
        <p:spPr>
          <a:xfrm>
            <a:off x="6745257" y="5550186"/>
            <a:ext cx="2692269" cy="1101752"/>
          </a:xfrm>
          <a:prstGeom prst="roundRect">
            <a:avLst/>
          </a:prstGeom>
          <a:solidFill>
            <a:srgbClr val="CDF3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E60B21-0CFA-D502-A788-18EB5320F2E1}"/>
              </a:ext>
            </a:extLst>
          </p:cNvPr>
          <p:cNvSpPr/>
          <p:nvPr/>
        </p:nvSpPr>
        <p:spPr>
          <a:xfrm>
            <a:off x="923729" y="5642451"/>
            <a:ext cx="390954" cy="3738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BD6D89-4002-BEE2-A72C-2072ADD1C08E}"/>
              </a:ext>
            </a:extLst>
          </p:cNvPr>
          <p:cNvSpPr/>
          <p:nvPr/>
        </p:nvSpPr>
        <p:spPr>
          <a:xfrm>
            <a:off x="6816983" y="5590399"/>
            <a:ext cx="397198" cy="3642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D396B2-812B-F0B8-1654-387F21A90E52}"/>
              </a:ext>
            </a:extLst>
          </p:cNvPr>
          <p:cNvSpPr/>
          <p:nvPr/>
        </p:nvSpPr>
        <p:spPr>
          <a:xfrm>
            <a:off x="3836379" y="5639070"/>
            <a:ext cx="417238" cy="3539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628EEA8-9501-1C4E-18EE-3913810C9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8" y="5707065"/>
            <a:ext cx="295202" cy="29520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DA6CB9-9EAD-9937-E0E2-A2FD95CD17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777" y="5688806"/>
            <a:ext cx="281111" cy="28111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1227DF1-1F43-EFBF-3C5B-718A639B7D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174" y="5639070"/>
            <a:ext cx="296318" cy="29631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4583B8F-1ECE-A3A3-40E2-17DE13B8ECB4}"/>
              </a:ext>
            </a:extLst>
          </p:cNvPr>
          <p:cNvSpPr txBox="1"/>
          <p:nvPr/>
        </p:nvSpPr>
        <p:spPr>
          <a:xfrm>
            <a:off x="1325740" y="5553177"/>
            <a:ext cx="1855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7030A0"/>
                </a:solidFill>
              </a:rPr>
              <a:t>HIGH PARTICIPATION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84CDCBE-DF3B-1326-EEB4-5EB2476C0FDF}"/>
              </a:ext>
            </a:extLst>
          </p:cNvPr>
          <p:cNvCxnSpPr>
            <a:cxnSpLocks/>
          </p:cNvCxnSpPr>
          <p:nvPr/>
        </p:nvCxnSpPr>
        <p:spPr>
          <a:xfrm>
            <a:off x="1428803" y="5843643"/>
            <a:ext cx="14814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27B345E-0FDD-010D-BADF-1CC35CAEA139}"/>
              </a:ext>
            </a:extLst>
          </p:cNvPr>
          <p:cNvSpPr txBox="1"/>
          <p:nvPr/>
        </p:nvSpPr>
        <p:spPr>
          <a:xfrm>
            <a:off x="1324831" y="5833470"/>
            <a:ext cx="2198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i="1" dirty="0"/>
              <a:t>Central Region recorded the highest voter turnout (78.95%), leading all regions in electoral participation.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AD42BB-6A9F-5A03-4973-462F04BB8A75}"/>
              </a:ext>
            </a:extLst>
          </p:cNvPr>
          <p:cNvSpPr txBox="1"/>
          <p:nvPr/>
        </p:nvSpPr>
        <p:spPr>
          <a:xfrm>
            <a:off x="4323786" y="5601350"/>
            <a:ext cx="181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70C0"/>
                </a:solidFill>
              </a:rPr>
              <a:t>REGIONAL VARIATION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532AD-0EBC-3285-AB3C-B9B0C7FEBD91}"/>
              </a:ext>
            </a:extLst>
          </p:cNvPr>
          <p:cNvCxnSpPr>
            <a:cxnSpLocks/>
          </p:cNvCxnSpPr>
          <p:nvPr/>
        </p:nvCxnSpPr>
        <p:spPr>
          <a:xfrm>
            <a:off x="4407386" y="5879051"/>
            <a:ext cx="15845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F6796C-562D-7A08-7D54-A00641285235}"/>
              </a:ext>
            </a:extLst>
          </p:cNvPr>
          <p:cNvSpPr txBox="1"/>
          <p:nvPr/>
        </p:nvSpPr>
        <p:spPr>
          <a:xfrm>
            <a:off x="4295808" y="5893513"/>
            <a:ext cx="23021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i="1" dirty="0"/>
              <a:t>Chennai Metro reported lowest turnout at 62.22% showing variation in voter participation across regions.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D8AE70-9E67-F438-D671-2D4397FF3E19}"/>
              </a:ext>
            </a:extLst>
          </p:cNvPr>
          <p:cNvSpPr txBox="1"/>
          <p:nvPr/>
        </p:nvSpPr>
        <p:spPr>
          <a:xfrm>
            <a:off x="7143192" y="5601350"/>
            <a:ext cx="2437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DEMOCRATIC ENGAGEMENT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AAD3423-5421-468B-C941-B9394FC904F3}"/>
              </a:ext>
            </a:extLst>
          </p:cNvPr>
          <p:cNvCxnSpPr>
            <a:cxnSpLocks/>
          </p:cNvCxnSpPr>
          <p:nvPr/>
        </p:nvCxnSpPr>
        <p:spPr>
          <a:xfrm>
            <a:off x="7295465" y="5888074"/>
            <a:ext cx="20845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0177706-29D2-AA04-6885-0B42316FB752}"/>
              </a:ext>
            </a:extLst>
          </p:cNvPr>
          <p:cNvSpPr txBox="1"/>
          <p:nvPr/>
        </p:nvSpPr>
        <p:spPr>
          <a:xfrm>
            <a:off x="7165640" y="5909245"/>
            <a:ext cx="2157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i="1" dirty="0"/>
              <a:t>Five out of Six Regions recorded turnout levels above 70% demonstrating widespread electoral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314114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45688-DC0F-9915-DC7C-92C4BDF70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B33D38-39BF-F3B7-F63A-00D72C321FF4}"/>
              </a:ext>
            </a:extLst>
          </p:cNvPr>
          <p:cNvSpPr txBox="1"/>
          <p:nvPr/>
        </p:nvSpPr>
        <p:spPr>
          <a:xfrm>
            <a:off x="1955857" y="196768"/>
            <a:ext cx="825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CONSTITUENCY REVOLUTION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6298DA-05D4-D83A-B2A6-59D52C069CE5}"/>
              </a:ext>
            </a:extLst>
          </p:cNvPr>
          <p:cNvCxnSpPr>
            <a:cxnSpLocks/>
          </p:cNvCxnSpPr>
          <p:nvPr/>
        </p:nvCxnSpPr>
        <p:spPr>
          <a:xfrm>
            <a:off x="2245206" y="877336"/>
            <a:ext cx="8056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01007B-167B-BF14-396D-D017CEA72408}"/>
              </a:ext>
            </a:extLst>
          </p:cNvPr>
          <p:cNvSpPr txBox="1"/>
          <p:nvPr/>
        </p:nvSpPr>
        <p:spPr>
          <a:xfrm>
            <a:off x="2167585" y="851965"/>
            <a:ext cx="8056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/>
              <a:t>Examining how constituency-level outcomes reshaped Assembly representation across Tamil Nadu.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85CA59-48FB-400E-C159-79ED0B8EA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2" y="1460067"/>
            <a:ext cx="5740121" cy="328006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0FF73E-69FE-DCB3-239C-1CE9C783D097}"/>
              </a:ext>
            </a:extLst>
          </p:cNvPr>
          <p:cNvSpPr/>
          <p:nvPr/>
        </p:nvSpPr>
        <p:spPr>
          <a:xfrm>
            <a:off x="7065178" y="1531200"/>
            <a:ext cx="2902226" cy="328006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825222-87DF-D9A8-FE43-DF9F9F6BA9A4}"/>
              </a:ext>
            </a:extLst>
          </p:cNvPr>
          <p:cNvSpPr/>
          <p:nvPr/>
        </p:nvSpPr>
        <p:spPr>
          <a:xfrm>
            <a:off x="7323603" y="1678349"/>
            <a:ext cx="419139" cy="44870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5465F1-E181-C046-E9B9-F71EBFAF4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258" y="1732733"/>
            <a:ext cx="317460" cy="364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E3FEC3-8FE4-320A-12C9-C24C4C55B9B3}"/>
              </a:ext>
            </a:extLst>
          </p:cNvPr>
          <p:cNvSpPr txBox="1"/>
          <p:nvPr/>
        </p:nvSpPr>
        <p:spPr>
          <a:xfrm>
            <a:off x="7883562" y="1698292"/>
            <a:ext cx="178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MAIN FINDING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324325-603C-A933-FED6-2D9323B4108F}"/>
              </a:ext>
            </a:extLst>
          </p:cNvPr>
          <p:cNvCxnSpPr>
            <a:cxnSpLocks/>
          </p:cNvCxnSpPr>
          <p:nvPr/>
        </p:nvCxnSpPr>
        <p:spPr>
          <a:xfrm>
            <a:off x="7961612" y="2127968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77317E4-DF7E-1C4E-2678-87C4F555EF8E}"/>
              </a:ext>
            </a:extLst>
          </p:cNvPr>
          <p:cNvSpPr txBox="1"/>
          <p:nvPr/>
        </p:nvSpPr>
        <p:spPr>
          <a:xfrm>
            <a:off x="7298408" y="2376374"/>
            <a:ext cx="2645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TVK secured 107 constituencies, becoming the largest party in the Assembly and recording the highest constituency representation in 2026.</a:t>
            </a:r>
            <a:endParaRPr lang="en-IN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1FB996-F1D7-3DF1-64AE-B7EA3F940E90}"/>
              </a:ext>
            </a:extLst>
          </p:cNvPr>
          <p:cNvSpPr/>
          <p:nvPr/>
        </p:nvSpPr>
        <p:spPr>
          <a:xfrm>
            <a:off x="1058245" y="5227096"/>
            <a:ext cx="2692269" cy="1232560"/>
          </a:xfrm>
          <a:prstGeom prst="roundRect">
            <a:avLst/>
          </a:prstGeom>
          <a:solidFill>
            <a:srgbClr val="FDF5FD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C71DDC-D18C-0AFE-EF2B-94CFCC733BE7}"/>
              </a:ext>
            </a:extLst>
          </p:cNvPr>
          <p:cNvSpPr/>
          <p:nvPr/>
        </p:nvSpPr>
        <p:spPr>
          <a:xfrm>
            <a:off x="4217064" y="5227096"/>
            <a:ext cx="2692269" cy="1232560"/>
          </a:xfrm>
          <a:prstGeom prst="roundRect">
            <a:avLst/>
          </a:prstGeom>
          <a:solidFill>
            <a:srgbClr val="E5F8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7CA8629-295E-BB01-0D84-0D822B0FB4B8}"/>
              </a:ext>
            </a:extLst>
          </p:cNvPr>
          <p:cNvSpPr/>
          <p:nvPr/>
        </p:nvSpPr>
        <p:spPr>
          <a:xfrm>
            <a:off x="7298408" y="5212346"/>
            <a:ext cx="2692269" cy="1234484"/>
          </a:xfrm>
          <a:prstGeom prst="roundRect">
            <a:avLst/>
          </a:prstGeom>
          <a:solidFill>
            <a:srgbClr val="CDF3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7A422D-72F6-B041-8470-BEFB6B1F3E1A}"/>
              </a:ext>
            </a:extLst>
          </p:cNvPr>
          <p:cNvSpPr/>
          <p:nvPr/>
        </p:nvSpPr>
        <p:spPr>
          <a:xfrm>
            <a:off x="1226939" y="5336258"/>
            <a:ext cx="390954" cy="3738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FA733C-8F06-F592-FB58-E6DCAC638B4A}"/>
              </a:ext>
            </a:extLst>
          </p:cNvPr>
          <p:cNvSpPr/>
          <p:nvPr/>
        </p:nvSpPr>
        <p:spPr>
          <a:xfrm>
            <a:off x="4281933" y="5336258"/>
            <a:ext cx="417238" cy="3539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00D202-AD95-D702-F9A1-633F8A17EF56}"/>
              </a:ext>
            </a:extLst>
          </p:cNvPr>
          <p:cNvSpPr/>
          <p:nvPr/>
        </p:nvSpPr>
        <p:spPr>
          <a:xfrm>
            <a:off x="7363959" y="5347901"/>
            <a:ext cx="417238" cy="3539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629DCE-C4F4-A4DB-7683-BF144D9C4ACD}"/>
              </a:ext>
            </a:extLst>
          </p:cNvPr>
          <p:cNvSpPr txBox="1"/>
          <p:nvPr/>
        </p:nvSpPr>
        <p:spPr>
          <a:xfrm>
            <a:off x="1606204" y="5314343"/>
            <a:ext cx="2228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7030A0"/>
                </a:solidFill>
              </a:rPr>
              <a:t>SHIFT IN REPRESENTATION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F2BF75-CFA7-6F27-2602-971F1D002AEC}"/>
              </a:ext>
            </a:extLst>
          </p:cNvPr>
          <p:cNvCxnSpPr>
            <a:cxnSpLocks/>
          </p:cNvCxnSpPr>
          <p:nvPr/>
        </p:nvCxnSpPr>
        <p:spPr>
          <a:xfrm>
            <a:off x="1707498" y="5642338"/>
            <a:ext cx="19377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D973B5-0047-60C8-4768-3B4062F0A4E3}"/>
              </a:ext>
            </a:extLst>
          </p:cNvPr>
          <p:cNvSpPr txBox="1"/>
          <p:nvPr/>
        </p:nvSpPr>
        <p:spPr>
          <a:xfrm>
            <a:off x="1047617" y="5683124"/>
            <a:ext cx="2857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TVK recorded the highest constituency count, securing representation across a large share of Tamil Nadu's Assembly seats.</a:t>
            </a:r>
            <a:endParaRPr lang="en-IN" sz="1100" b="1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9352F7-53DE-E777-601D-12F087F042D5}"/>
              </a:ext>
            </a:extLst>
          </p:cNvPr>
          <p:cNvSpPr txBox="1"/>
          <p:nvPr/>
        </p:nvSpPr>
        <p:spPr>
          <a:xfrm>
            <a:off x="4664553" y="5204457"/>
            <a:ext cx="2398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70C0"/>
                </a:solidFill>
              </a:rPr>
              <a:t>CHANGING ELECTORAL LANDSCAPE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F07FB8-82C0-691D-D5EE-D680789E7AA7}"/>
              </a:ext>
            </a:extLst>
          </p:cNvPr>
          <p:cNvCxnSpPr>
            <a:cxnSpLocks/>
          </p:cNvCxnSpPr>
          <p:nvPr/>
        </p:nvCxnSpPr>
        <p:spPr>
          <a:xfrm>
            <a:off x="4724711" y="5685862"/>
            <a:ext cx="18475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DB9527-5DF8-9C4E-099B-34FDC6371970}"/>
              </a:ext>
            </a:extLst>
          </p:cNvPr>
          <p:cNvSpPr txBox="1"/>
          <p:nvPr/>
        </p:nvSpPr>
        <p:spPr>
          <a:xfrm>
            <a:off x="4623084" y="5677389"/>
            <a:ext cx="23643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Constituency-level results indicate notable changes in political representation across Tamil Nadu.</a:t>
            </a:r>
            <a:endParaRPr lang="en-IN" sz="1100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265F4F-4742-FA2C-3881-194971AB16BA}"/>
              </a:ext>
            </a:extLst>
          </p:cNvPr>
          <p:cNvSpPr txBox="1"/>
          <p:nvPr/>
        </p:nvSpPr>
        <p:spPr>
          <a:xfrm>
            <a:off x="7799048" y="5355833"/>
            <a:ext cx="240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MULTI-PARTY COMPETITION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51D032-EF8B-74E3-9367-01A4EC3FCA27}"/>
              </a:ext>
            </a:extLst>
          </p:cNvPr>
          <p:cNvCxnSpPr>
            <a:cxnSpLocks/>
          </p:cNvCxnSpPr>
          <p:nvPr/>
        </p:nvCxnSpPr>
        <p:spPr>
          <a:xfrm>
            <a:off x="7883562" y="5663610"/>
            <a:ext cx="208384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E9F7058-DF39-7D24-A2BD-AC0ED966010C}"/>
              </a:ext>
            </a:extLst>
          </p:cNvPr>
          <p:cNvSpPr txBox="1"/>
          <p:nvPr/>
        </p:nvSpPr>
        <p:spPr>
          <a:xfrm>
            <a:off x="7561325" y="5690215"/>
            <a:ext cx="25919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Despite one party securing a clear lead, multiple parties continued to maintain representation in the Assembly.</a:t>
            </a:r>
            <a:endParaRPr lang="en-IN" sz="1100" b="1" i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C44E38A-8FCC-6576-F8C3-4A9B6353D2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801" y="5347901"/>
            <a:ext cx="346025" cy="34602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C16502F-010E-9155-01A7-F8EF94F581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86" y="5368402"/>
            <a:ext cx="317460" cy="3174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13BE67F-E4A0-9330-F48C-5F4F47BDDC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256" y="5365372"/>
            <a:ext cx="336486" cy="33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7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F95009-3B7E-76A4-D403-4585C9494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D1C50-070C-7615-5BC1-315433DA28E4}"/>
              </a:ext>
            </a:extLst>
          </p:cNvPr>
          <p:cNvSpPr txBox="1"/>
          <p:nvPr/>
        </p:nvSpPr>
        <p:spPr>
          <a:xfrm>
            <a:off x="1844040" y="39984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FINDINGS &amp; FINAL VERDICT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5CDFA5-3463-9C84-2EAA-BC812482924E}"/>
              </a:ext>
            </a:extLst>
          </p:cNvPr>
          <p:cNvCxnSpPr>
            <a:cxnSpLocks/>
          </p:cNvCxnSpPr>
          <p:nvPr/>
        </p:nvCxnSpPr>
        <p:spPr>
          <a:xfrm>
            <a:off x="2175537" y="1046171"/>
            <a:ext cx="8056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72D690-D8D3-B486-0025-14F0271D42CC}"/>
              </a:ext>
            </a:extLst>
          </p:cNvPr>
          <p:cNvSpPr txBox="1"/>
          <p:nvPr/>
        </p:nvSpPr>
        <p:spPr>
          <a:xfrm>
            <a:off x="2117558" y="1046171"/>
            <a:ext cx="8172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Summarizing the major insights from the 2026 Tamil Nadu Assembly Election Analysis.</a:t>
            </a:r>
            <a:endParaRPr lang="en-IN" sz="1400" i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BB81B6-4A36-E28B-E50D-7EC6753E9E3D}"/>
              </a:ext>
            </a:extLst>
          </p:cNvPr>
          <p:cNvSpPr/>
          <p:nvPr/>
        </p:nvSpPr>
        <p:spPr>
          <a:xfrm>
            <a:off x="1090757" y="1607860"/>
            <a:ext cx="1970238" cy="1126898"/>
          </a:xfrm>
          <a:prstGeom prst="roundRect">
            <a:avLst/>
          </a:prstGeom>
          <a:solidFill>
            <a:srgbClr val="FDF5FD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19F3B4-FDF5-362B-2D0E-DB375A9D6F5B}"/>
              </a:ext>
            </a:extLst>
          </p:cNvPr>
          <p:cNvSpPr/>
          <p:nvPr/>
        </p:nvSpPr>
        <p:spPr>
          <a:xfrm>
            <a:off x="3632490" y="1617330"/>
            <a:ext cx="2004174" cy="1126898"/>
          </a:xfrm>
          <a:prstGeom prst="roundRect">
            <a:avLst/>
          </a:prstGeom>
          <a:solidFill>
            <a:srgbClr val="E5F8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EADB40-0541-EA6E-731F-295A9C6E39CC}"/>
              </a:ext>
            </a:extLst>
          </p:cNvPr>
          <p:cNvSpPr/>
          <p:nvPr/>
        </p:nvSpPr>
        <p:spPr>
          <a:xfrm>
            <a:off x="6208161" y="1606101"/>
            <a:ext cx="1970238" cy="1128657"/>
          </a:xfrm>
          <a:prstGeom prst="roundRect">
            <a:avLst/>
          </a:prstGeom>
          <a:solidFill>
            <a:srgbClr val="CDF3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684FCD-36DB-35DA-0A58-0485B8B0A659}"/>
              </a:ext>
            </a:extLst>
          </p:cNvPr>
          <p:cNvSpPr/>
          <p:nvPr/>
        </p:nvSpPr>
        <p:spPr>
          <a:xfrm>
            <a:off x="8809612" y="1617330"/>
            <a:ext cx="1970238" cy="11286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503EC-AC9A-E800-FBED-8977A77083F9}"/>
              </a:ext>
            </a:extLst>
          </p:cNvPr>
          <p:cNvSpPr txBox="1"/>
          <p:nvPr/>
        </p:nvSpPr>
        <p:spPr>
          <a:xfrm>
            <a:off x="1203158" y="1692502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7030A0"/>
                </a:solidFill>
              </a:rPr>
              <a:t>ELECTION WINNER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985BD-175A-B059-6B85-BBC0C1C24466}"/>
              </a:ext>
            </a:extLst>
          </p:cNvPr>
          <p:cNvCxnSpPr>
            <a:cxnSpLocks/>
          </p:cNvCxnSpPr>
          <p:nvPr/>
        </p:nvCxnSpPr>
        <p:spPr>
          <a:xfrm>
            <a:off x="1242914" y="1976280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22F8DF-BED9-7552-EDBA-550160535300}"/>
              </a:ext>
            </a:extLst>
          </p:cNvPr>
          <p:cNvSpPr txBox="1"/>
          <p:nvPr/>
        </p:nvSpPr>
        <p:spPr>
          <a:xfrm>
            <a:off x="1276562" y="1967702"/>
            <a:ext cx="15596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</a:rPr>
              <a:t>TVK</a:t>
            </a:r>
          </a:p>
          <a:p>
            <a:pPr algn="ctr"/>
            <a:r>
              <a:rPr lang="en-IN" sz="2000" b="1" dirty="0"/>
              <a:t>107 Seats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8BD05C-FF92-7F64-61F4-3E56B687455A}"/>
              </a:ext>
            </a:extLst>
          </p:cNvPr>
          <p:cNvSpPr txBox="1"/>
          <p:nvPr/>
        </p:nvSpPr>
        <p:spPr>
          <a:xfrm>
            <a:off x="3564341" y="1673287"/>
            <a:ext cx="2154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70C0"/>
                </a:solidFill>
              </a:rPr>
              <a:t>VOTE SHARE LEADER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6062B4-0B8B-906E-5B3B-5CD792991FF0}"/>
              </a:ext>
            </a:extLst>
          </p:cNvPr>
          <p:cNvCxnSpPr>
            <a:cxnSpLocks/>
          </p:cNvCxnSpPr>
          <p:nvPr/>
        </p:nvCxnSpPr>
        <p:spPr>
          <a:xfrm>
            <a:off x="3759934" y="1976280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F8C543-2D5E-8BD4-197B-404218B8C1B0}"/>
              </a:ext>
            </a:extLst>
          </p:cNvPr>
          <p:cNvCxnSpPr>
            <a:cxnSpLocks/>
          </p:cNvCxnSpPr>
          <p:nvPr/>
        </p:nvCxnSpPr>
        <p:spPr>
          <a:xfrm>
            <a:off x="6280299" y="1982974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8A9151-133C-4DDF-6A29-2079DF52F758}"/>
              </a:ext>
            </a:extLst>
          </p:cNvPr>
          <p:cNvCxnSpPr>
            <a:cxnSpLocks/>
          </p:cNvCxnSpPr>
          <p:nvPr/>
        </p:nvCxnSpPr>
        <p:spPr>
          <a:xfrm>
            <a:off x="8894196" y="1982974"/>
            <a:ext cx="1749287" cy="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EE623A-8560-4808-B1A8-B074141E42EE}"/>
              </a:ext>
            </a:extLst>
          </p:cNvPr>
          <p:cNvSpPr txBox="1"/>
          <p:nvPr/>
        </p:nvSpPr>
        <p:spPr>
          <a:xfrm>
            <a:off x="3841648" y="1974184"/>
            <a:ext cx="1638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TVK</a:t>
            </a:r>
          </a:p>
          <a:p>
            <a:pPr algn="ctr"/>
            <a:r>
              <a:rPr lang="en-IN" sz="2000" b="1" dirty="0"/>
              <a:t>34.5M </a:t>
            </a:r>
            <a:r>
              <a:rPr lang="en-IN" sz="2000" dirty="0"/>
              <a:t>Votes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28CF1-1005-B920-43DC-70974B0CA2FF}"/>
              </a:ext>
            </a:extLst>
          </p:cNvPr>
          <p:cNvSpPr txBox="1"/>
          <p:nvPr/>
        </p:nvSpPr>
        <p:spPr>
          <a:xfrm>
            <a:off x="6111122" y="1678671"/>
            <a:ext cx="2123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HIGHEST TURNOUT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501BD-5740-85E9-83C9-45339291F13F}"/>
              </a:ext>
            </a:extLst>
          </p:cNvPr>
          <p:cNvSpPr txBox="1"/>
          <p:nvPr/>
        </p:nvSpPr>
        <p:spPr>
          <a:xfrm>
            <a:off x="6152080" y="2031056"/>
            <a:ext cx="2082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CENTRAL REGION</a:t>
            </a:r>
            <a:r>
              <a:rPr lang="en-IN" b="1" dirty="0">
                <a:solidFill>
                  <a:srgbClr val="0070C0"/>
                </a:solidFill>
              </a:rPr>
              <a:t> </a:t>
            </a:r>
          </a:p>
          <a:p>
            <a:pPr algn="ctr"/>
            <a:r>
              <a:rPr lang="en-IN" sz="2000" b="1" dirty="0"/>
              <a:t>78.95%</a:t>
            </a:r>
            <a:endParaRPr lang="en-IN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0F4183-7F27-5BEF-1E28-45298563C254}"/>
              </a:ext>
            </a:extLst>
          </p:cNvPr>
          <p:cNvSpPr txBox="1"/>
          <p:nvPr/>
        </p:nvSpPr>
        <p:spPr>
          <a:xfrm>
            <a:off x="8720057" y="1668302"/>
            <a:ext cx="2094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AVERAGE TURNOUT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DA9D15-D6DC-C786-6C3D-2849603A79B2}"/>
              </a:ext>
            </a:extLst>
          </p:cNvPr>
          <p:cNvSpPr txBox="1"/>
          <p:nvPr/>
        </p:nvSpPr>
        <p:spPr>
          <a:xfrm>
            <a:off x="9003048" y="2007501"/>
            <a:ext cx="1531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73.04%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BBE91B6E-AEEC-5C20-BC22-A3D39B070BAA}"/>
              </a:ext>
            </a:extLst>
          </p:cNvPr>
          <p:cNvSpPr/>
          <p:nvPr/>
        </p:nvSpPr>
        <p:spPr>
          <a:xfrm>
            <a:off x="1090757" y="3491092"/>
            <a:ext cx="5527757" cy="2635388"/>
          </a:xfrm>
          <a:prstGeom prst="round2SameRect">
            <a:avLst>
              <a:gd name="adj1" fmla="val 0"/>
              <a:gd name="adj2" fmla="val 61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54ADC1-59B1-39F7-EE75-3E9130BE2001}"/>
              </a:ext>
            </a:extLst>
          </p:cNvPr>
          <p:cNvSpPr txBox="1"/>
          <p:nvPr/>
        </p:nvSpPr>
        <p:spPr>
          <a:xfrm>
            <a:off x="1242914" y="3518829"/>
            <a:ext cx="51510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200" b="1" dirty="0"/>
              <a:t>TVK recorded the highest vote count and emerged as the largest party in the Assembly.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b="1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1200" b="1" dirty="0"/>
              <a:t>Tamil Nadu recorded strong voter participation, with average turnout exceeding 73%.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b="1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1200" b="1" dirty="0"/>
              <a:t>Constituency-level outcomes resulted in significant changes in political representation.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b="1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1200" b="1" dirty="0"/>
              <a:t>Multiple parties retained Assembly representation, reflecting continued electoral competition.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b="1" dirty="0"/>
          </a:p>
          <a:p>
            <a:pPr marL="228600" indent="-228600" algn="just">
              <a:buFont typeface="+mj-lt"/>
              <a:buAutoNum type="arabicPeriod"/>
            </a:pPr>
            <a:r>
              <a:rPr lang="en-US" sz="1200" b="1" dirty="0"/>
              <a:t>Vote share and constituency representation were not always proportional across parties.</a:t>
            </a:r>
            <a:endParaRPr lang="en-IN" sz="12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D9808D-A191-492B-1111-337A2677B0E8}"/>
              </a:ext>
            </a:extLst>
          </p:cNvPr>
          <p:cNvSpPr/>
          <p:nvPr/>
        </p:nvSpPr>
        <p:spPr>
          <a:xfrm>
            <a:off x="1082289" y="3050702"/>
            <a:ext cx="5536225" cy="41775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4CBD0A-25D4-9C6B-9BA6-65F8858EF867}"/>
              </a:ext>
            </a:extLst>
          </p:cNvPr>
          <p:cNvSpPr txBox="1"/>
          <p:nvPr/>
        </p:nvSpPr>
        <p:spPr>
          <a:xfrm>
            <a:off x="1510167" y="3044920"/>
            <a:ext cx="4883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KEY FINDINGS </a:t>
            </a: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6EE5C34F-5C37-A067-5EA0-18DBCA2BC9A4}"/>
              </a:ext>
            </a:extLst>
          </p:cNvPr>
          <p:cNvSpPr/>
          <p:nvPr/>
        </p:nvSpPr>
        <p:spPr>
          <a:xfrm>
            <a:off x="7007065" y="3076900"/>
            <a:ext cx="3772785" cy="41775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73404162-1D37-7BF9-3C2F-427509F4A241}"/>
              </a:ext>
            </a:extLst>
          </p:cNvPr>
          <p:cNvSpPr/>
          <p:nvPr/>
        </p:nvSpPr>
        <p:spPr>
          <a:xfrm rot="10800000">
            <a:off x="7014970" y="3506583"/>
            <a:ext cx="3764880" cy="2677655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C3CD6E-1871-CAEF-55BD-685152EECF68}"/>
              </a:ext>
            </a:extLst>
          </p:cNvPr>
          <p:cNvSpPr txBox="1"/>
          <p:nvPr/>
        </p:nvSpPr>
        <p:spPr>
          <a:xfrm>
            <a:off x="7135906" y="3530441"/>
            <a:ext cx="36011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i="1" dirty="0"/>
              <a:t>The 2026 Tamil Nadu Assembly Election was characterized by strong voter participation, notable constituency-level shifts, and the emergence of TVK as the largest political force in the state.</a:t>
            </a:r>
          </a:p>
          <a:p>
            <a:pPr algn="just"/>
            <a:endParaRPr lang="en-US" sz="1400" b="1" i="1" dirty="0"/>
          </a:p>
          <a:p>
            <a:pPr algn="just"/>
            <a:r>
              <a:rPr lang="en-US" sz="1400" b="1" i="1" dirty="0"/>
              <a:t>This analysis is based solely on publicly available Election Commission of India data and focuses on describing electoral outcomes without making causal interpretations.</a:t>
            </a:r>
            <a:endParaRPr lang="en-IN" sz="1400" b="1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A2C44-81BE-3BB5-04EB-4B7398098360}"/>
              </a:ext>
            </a:extLst>
          </p:cNvPr>
          <p:cNvSpPr txBox="1"/>
          <p:nvPr/>
        </p:nvSpPr>
        <p:spPr>
          <a:xfrm>
            <a:off x="7823949" y="3054945"/>
            <a:ext cx="2225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FINAL VERDICT</a:t>
            </a:r>
          </a:p>
        </p:txBody>
      </p:sp>
    </p:spTree>
    <p:extLst>
      <p:ext uri="{BB962C8B-B14F-4D97-AF65-F5344CB8AC3E}">
        <p14:creationId xmlns:p14="http://schemas.microsoft.com/office/powerpoint/2010/main" val="401624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56A282-3CDA-B653-6C7E-DEB50C89E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DB9E92-5797-521F-3143-7D1259AAAAC7}"/>
              </a:ext>
            </a:extLst>
          </p:cNvPr>
          <p:cNvSpPr txBox="1"/>
          <p:nvPr/>
        </p:nvSpPr>
        <p:spPr>
          <a:xfrm>
            <a:off x="1480458" y="293913"/>
            <a:ext cx="885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LIMITATIONS &amp; SOURCES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763593-F8A1-5B95-3DB3-DFA9D844B941}"/>
              </a:ext>
            </a:extLst>
          </p:cNvPr>
          <p:cNvCxnSpPr>
            <a:cxnSpLocks/>
          </p:cNvCxnSpPr>
          <p:nvPr/>
        </p:nvCxnSpPr>
        <p:spPr>
          <a:xfrm>
            <a:off x="2067766" y="941386"/>
            <a:ext cx="8056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5CB539-14D5-8F22-EFF1-C15A336E6868}"/>
              </a:ext>
            </a:extLst>
          </p:cNvPr>
          <p:cNvSpPr txBox="1"/>
          <p:nvPr/>
        </p:nvSpPr>
        <p:spPr>
          <a:xfrm>
            <a:off x="2242458" y="940244"/>
            <a:ext cx="716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Understanding the scope and constraints of the analysis.</a:t>
            </a:r>
            <a:endParaRPr lang="en-IN" sz="1400" i="1" dirty="0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72EE7C98-49EC-81A3-085C-2B232CB5FB71}"/>
              </a:ext>
            </a:extLst>
          </p:cNvPr>
          <p:cNvSpPr/>
          <p:nvPr/>
        </p:nvSpPr>
        <p:spPr>
          <a:xfrm>
            <a:off x="1488927" y="1916986"/>
            <a:ext cx="4607073" cy="3304352"/>
          </a:xfrm>
          <a:prstGeom prst="round2SameRect">
            <a:avLst>
              <a:gd name="adj1" fmla="val 0"/>
              <a:gd name="adj2" fmla="val 61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EDD1AB9C-96CB-22F9-ED61-0BB4B303AAE6}"/>
              </a:ext>
            </a:extLst>
          </p:cNvPr>
          <p:cNvSpPr/>
          <p:nvPr/>
        </p:nvSpPr>
        <p:spPr>
          <a:xfrm>
            <a:off x="1488928" y="1468655"/>
            <a:ext cx="4607072" cy="4709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2FFB3E97-F418-8A80-7F46-1AFAA19AB8FF}"/>
              </a:ext>
            </a:extLst>
          </p:cNvPr>
          <p:cNvSpPr/>
          <p:nvPr/>
        </p:nvSpPr>
        <p:spPr>
          <a:xfrm>
            <a:off x="6468298" y="1916986"/>
            <a:ext cx="4607072" cy="3304351"/>
          </a:xfrm>
          <a:prstGeom prst="round2SameRect">
            <a:avLst>
              <a:gd name="adj1" fmla="val 0"/>
              <a:gd name="adj2" fmla="val 61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F34C55E0-24B0-EC8A-6C5A-C652D359614B}"/>
              </a:ext>
            </a:extLst>
          </p:cNvPr>
          <p:cNvSpPr/>
          <p:nvPr/>
        </p:nvSpPr>
        <p:spPr>
          <a:xfrm>
            <a:off x="6468298" y="1495258"/>
            <a:ext cx="4607072" cy="41775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7E344-075A-B7CC-868D-719AE6186D43}"/>
              </a:ext>
            </a:extLst>
          </p:cNvPr>
          <p:cNvSpPr txBox="1"/>
          <p:nvPr/>
        </p:nvSpPr>
        <p:spPr>
          <a:xfrm>
            <a:off x="2721428" y="1495258"/>
            <a:ext cx="1915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42C6A-2F0B-A711-1AF4-DF1F243646E6}"/>
              </a:ext>
            </a:extLst>
          </p:cNvPr>
          <p:cNvSpPr txBox="1"/>
          <p:nvPr/>
        </p:nvSpPr>
        <p:spPr>
          <a:xfrm>
            <a:off x="7663543" y="1495258"/>
            <a:ext cx="229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DATA 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83E82D-894C-E397-6509-42B6FADB7FAC}"/>
              </a:ext>
            </a:extLst>
          </p:cNvPr>
          <p:cNvSpPr txBox="1"/>
          <p:nvPr/>
        </p:nvSpPr>
        <p:spPr>
          <a:xfrm>
            <a:off x="1578430" y="1993222"/>
            <a:ext cx="45175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Analysis is based solely on publicly available Election Commission of India (ECI)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The analysis describes electoral outcomes and voting patterns but does not explain why parties won or lost.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No exit polls, opinion polls, demographic datasets, or survey data were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Findings should be interpreted as descriptive rather than causal.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Regional and constituency-level patterns are based only on officially reported election results.</a:t>
            </a:r>
            <a:endParaRPr lang="en-IN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0833D5-6955-F0F3-FCC9-8D84CFAB8408}"/>
              </a:ext>
            </a:extLst>
          </p:cNvPr>
          <p:cNvSpPr txBox="1"/>
          <p:nvPr/>
        </p:nvSpPr>
        <p:spPr>
          <a:xfrm>
            <a:off x="6468298" y="2088056"/>
            <a:ext cx="46070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i="1" dirty="0"/>
              <a:t>Election Commission of India (ECI) - </a:t>
            </a:r>
            <a:r>
              <a:rPr lang="en-IN" sz="1400" b="1" i="1" dirty="0">
                <a:hlinkClick r:id="rId3"/>
              </a:rPr>
              <a:t>results.eci.gov.in</a:t>
            </a:r>
            <a:endParaRPr lang="en-IN" sz="1400" b="1" i="1" dirty="0"/>
          </a:p>
          <a:p>
            <a:endParaRPr lang="en-IN" sz="1400" b="1" i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i="1" dirty="0"/>
              <a:t>Chief Electoral Officer, Tamil Nadu - </a:t>
            </a:r>
            <a:r>
              <a:rPr lang="en-IN" sz="1400" b="1" i="1" dirty="0">
                <a:hlinkClick r:id="rId4"/>
              </a:rPr>
              <a:t>elections.tn.gov.in</a:t>
            </a:r>
            <a:endParaRPr lang="en-IN" sz="1400" b="1" i="1" dirty="0"/>
          </a:p>
          <a:p>
            <a:endParaRPr lang="en-IN" sz="1400" b="1" i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i="1" dirty="0"/>
              <a:t>Codebasics Resume Project Challenge Dataset</a:t>
            </a:r>
          </a:p>
          <a:p>
            <a:endParaRPr lang="en-IN" sz="1400" b="1" i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i="1" dirty="0"/>
              <a:t>Constituency Master Dataset</a:t>
            </a:r>
          </a:p>
          <a:p>
            <a:endParaRPr lang="en-IN" sz="1400" b="1" i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i="1" dirty="0"/>
              <a:t>Tamil Nadu Assembly Election Results</a:t>
            </a:r>
          </a:p>
          <a:p>
            <a:r>
              <a:rPr lang="en-IN" sz="1400" b="1" i="1" dirty="0"/>
              <a:t>        (2021 &amp; 2026)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A21707-A65A-BC9D-1602-AAEE4A4E7935}"/>
              </a:ext>
            </a:extLst>
          </p:cNvPr>
          <p:cNvSpPr/>
          <p:nvPr/>
        </p:nvSpPr>
        <p:spPr>
          <a:xfrm>
            <a:off x="3581401" y="5362742"/>
            <a:ext cx="5442856" cy="13319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95E4CD-772D-0173-3BBE-578EB4807795}"/>
              </a:ext>
            </a:extLst>
          </p:cNvPr>
          <p:cNvSpPr txBox="1"/>
          <p:nvPr/>
        </p:nvSpPr>
        <p:spPr>
          <a:xfrm>
            <a:off x="4267199" y="5265265"/>
            <a:ext cx="4071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THANK YOU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7C525-CA54-46DC-F06B-ADE94D99EAC5}"/>
              </a:ext>
            </a:extLst>
          </p:cNvPr>
          <p:cNvSpPr txBox="1"/>
          <p:nvPr/>
        </p:nvSpPr>
        <p:spPr>
          <a:xfrm>
            <a:off x="4887686" y="5720314"/>
            <a:ext cx="2775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Presented by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</a:rPr>
              <a:t>RANJITH A 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3148F3-62E2-184F-8A40-29ECA043572B}"/>
              </a:ext>
            </a:extLst>
          </p:cNvPr>
          <p:cNvSpPr txBox="1"/>
          <p:nvPr/>
        </p:nvSpPr>
        <p:spPr>
          <a:xfrm>
            <a:off x="4737469" y="6433282"/>
            <a:ext cx="34616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002060"/>
                </a:solidFill>
              </a:rPr>
              <a:t>Resume Project Challenge 2026 |</a:t>
            </a:r>
            <a:r>
              <a:rPr lang="en-IN" sz="1100" i="1" dirty="0">
                <a:solidFill>
                  <a:srgbClr val="002060"/>
                </a:solidFill>
              </a:rPr>
              <a:t> </a:t>
            </a:r>
            <a:r>
              <a:rPr lang="en-IN" sz="1100" b="1" dirty="0">
                <a:solidFill>
                  <a:srgbClr val="002060"/>
                </a:solidFill>
              </a:rPr>
              <a:t>CODEBASICS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CE27EC-0EDF-09FD-D7CD-E2D022A2C422}"/>
              </a:ext>
            </a:extLst>
          </p:cNvPr>
          <p:cNvCxnSpPr>
            <a:cxnSpLocks/>
          </p:cNvCxnSpPr>
          <p:nvPr/>
        </p:nvCxnSpPr>
        <p:spPr>
          <a:xfrm>
            <a:off x="3792463" y="6433282"/>
            <a:ext cx="5133823" cy="2569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C1ACC1-D568-ECCA-3EA1-FF7201B8B683}"/>
              </a:ext>
            </a:extLst>
          </p:cNvPr>
          <p:cNvCxnSpPr>
            <a:cxnSpLocks/>
          </p:cNvCxnSpPr>
          <p:nvPr/>
        </p:nvCxnSpPr>
        <p:spPr>
          <a:xfrm flipV="1">
            <a:off x="4726582" y="5432712"/>
            <a:ext cx="0" cy="9577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75FC35-DC0F-5B77-DBE3-C37B7893D7B8}"/>
              </a:ext>
            </a:extLst>
          </p:cNvPr>
          <p:cNvCxnSpPr>
            <a:cxnSpLocks/>
          </p:cNvCxnSpPr>
          <p:nvPr/>
        </p:nvCxnSpPr>
        <p:spPr>
          <a:xfrm flipV="1">
            <a:off x="7872554" y="5432712"/>
            <a:ext cx="0" cy="95776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Graphic 33" descr="Bullseye with solid fill">
            <a:extLst>
              <a:ext uri="{FF2B5EF4-FFF2-40B4-BE49-F238E27FC236}">
                <a16:creationId xmlns:a16="http://schemas.microsoft.com/office/drawing/2014/main" id="{EB8CFA71-497B-1772-EDAD-2DE9B591F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9370" y="5495053"/>
            <a:ext cx="914400" cy="914400"/>
          </a:xfrm>
          <a:prstGeom prst="rect">
            <a:avLst/>
          </a:prstGeom>
        </p:spPr>
      </p:pic>
      <p:pic>
        <p:nvPicPr>
          <p:cNvPr id="36" name="Graphic 35" descr="User with solid fill">
            <a:extLst>
              <a:ext uri="{FF2B5EF4-FFF2-40B4-BE49-F238E27FC236}">
                <a16:creationId xmlns:a16="http://schemas.microsoft.com/office/drawing/2014/main" id="{7E70738E-B067-EAA9-93DC-AE47CB953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0449" y="54701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22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1005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 nayak</dc:creator>
  <cp:lastModifiedBy>Ranjith nayak</cp:lastModifiedBy>
  <cp:revision>5</cp:revision>
  <dcterms:created xsi:type="dcterms:W3CDTF">2026-06-03T16:07:32Z</dcterms:created>
  <dcterms:modified xsi:type="dcterms:W3CDTF">2026-06-04T16:58:53Z</dcterms:modified>
</cp:coreProperties>
</file>